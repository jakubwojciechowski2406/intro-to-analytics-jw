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ub Wojciechowski" userId="ee59becc-10bc-4bea-a8c2-abcd21dbb78b" providerId="ADAL" clId="{6E28A7B6-A803-5EC2-8BCD-1276546AE81E}"/>
    <pc:docChg chg="undo custSel modSld delSection">
      <pc:chgData name="Jakub Wojciechowski" userId="ee59becc-10bc-4bea-a8c2-abcd21dbb78b" providerId="ADAL" clId="{6E28A7B6-A803-5EC2-8BCD-1276546AE81E}" dt="2026-10-07T23:17:49.519" v="25" actId="20577"/>
      <pc:docMkLst>
        <pc:docMk/>
      </pc:docMkLst>
      <pc:sldChg chg="modSp mod">
        <pc:chgData name="Jakub Wojciechowski" userId="ee59becc-10bc-4bea-a8c2-abcd21dbb78b" providerId="ADAL" clId="{6E28A7B6-A803-5EC2-8BCD-1276546AE81E}" dt="2026-10-07T23:17:49.519" v="25" actId="20577"/>
        <pc:sldMkLst>
          <pc:docMk/>
          <pc:sldMk cId="0" sldId="256"/>
        </pc:sldMkLst>
        <pc:spChg chg="mod">
          <ac:chgData name="Jakub Wojciechowski" userId="ee59becc-10bc-4bea-a8c2-abcd21dbb78b" providerId="ADAL" clId="{6E28A7B6-A803-5EC2-8BCD-1276546AE81E}" dt="2026-10-07T23:17:49.519" v="25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Arkusz_programu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Arkusz_programu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Arkusz_programu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1F2A37"/>
                </a:solidFill>
                <a:latin typeface="+mn-lt"/>
              </a:rPr>
              <a:t>% of firms using at least one AI technology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Poland</c:v>
                </c:pt>
              </c:strCache>
            </c:strRef>
          </c:tx>
          <c:spPr>
            <a:solidFill>
              <a:srgbClr val="D9661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A37"/>
                    </a:solidFill>
                    <a:latin typeface="+mn-lt"/>
                  </a:defRPr>
                </a:pPr>
                <a:endParaRPr lang="pl-P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Small (10–49)</c:v>
                </c:pt>
                <c:pt idx="1">
                  <c:v>Medium (50–249)</c:v>
                </c:pt>
                <c:pt idx="2">
                  <c:v>Large (250+)</c:v>
                </c:pt>
                <c:pt idx="3">
                  <c:v>All firms (10+)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5.79</c:v>
                </c:pt>
                <c:pt idx="1">
                  <c:v>14.77</c:v>
                </c:pt>
                <c:pt idx="2">
                  <c:v>45.81</c:v>
                </c:pt>
                <c:pt idx="3">
                  <c:v>8.36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F3-D441-AF31-F151105151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EU-27</c:v>
                </c:pt>
              </c:strCache>
            </c:strRef>
          </c:tx>
          <c:spPr>
            <a:solidFill>
              <a:srgbClr val="1B7FA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A37"/>
                    </a:solidFill>
                    <a:latin typeface="+mn-lt"/>
                  </a:defRPr>
                </a:pPr>
                <a:endParaRPr lang="pl-P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Small (10–49)</c:v>
                </c:pt>
                <c:pt idx="1">
                  <c:v>Medium (50–249)</c:v>
                </c:pt>
                <c:pt idx="2">
                  <c:v>Large (250+)</c:v>
                </c:pt>
                <c:pt idx="3">
                  <c:v>All firms (10+)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</c:v>
                </c:pt>
                <c:pt idx="1">
                  <c:v>30.36</c:v>
                </c:pt>
                <c:pt idx="2">
                  <c:v>55.03</c:v>
                </c:pt>
                <c:pt idx="3">
                  <c:v>19.95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F3-D441-AF31-F151105151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8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C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9525" cap="flat">
              <a:solidFill>
                <a:srgbClr val="E3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C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1F2A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1F2A37"/>
                </a:solidFill>
                <a:latin typeface="+mn-lt"/>
              </a:rPr>
              <a:t>Small firms (10–49) using AI, %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Poland</c:v>
                </c:pt>
              </c:strCache>
            </c:strRef>
          </c:tx>
          <c:spPr>
            <a:ln w="25400" cap="flat">
              <a:solidFill>
                <a:srgbClr val="D9661A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D9661A"/>
              </a:solidFill>
              <a:ln w="9525" cap="flat">
                <a:solidFill>
                  <a:srgbClr val="D9661A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A37"/>
                    </a:solidFill>
                    <a:latin typeface="+mn-lt"/>
                  </a:defRPr>
                </a:pPr>
                <a:endParaRPr lang="pl-P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1.88</c:v>
                </c:pt>
                <c:pt idx="1">
                  <c:v>2.25</c:v>
                </c:pt>
                <c:pt idx="2">
                  <c:v>3.93</c:v>
                </c:pt>
                <c:pt idx="3">
                  <c:v>5.79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A5-3348-AC38-A979DF9C39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EU-27</c:v>
                </c:pt>
              </c:strCache>
            </c:strRef>
          </c:tx>
          <c:spPr>
            <a:ln w="25400" cap="flat">
              <a:solidFill>
                <a:srgbClr val="1B7FA6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1B7FA6"/>
              </a:solidFill>
              <a:ln w="9525" cap="flat">
                <a:solidFill>
                  <a:srgbClr val="1B7FA6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A37"/>
                    </a:solidFill>
                    <a:latin typeface="+mn-lt"/>
                  </a:defRPr>
                </a:pPr>
                <a:endParaRPr lang="pl-P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6.12</c:v>
                </c:pt>
                <c:pt idx="1">
                  <c:v>6.41</c:v>
                </c:pt>
                <c:pt idx="2">
                  <c:v>11.21</c:v>
                </c:pt>
                <c:pt idx="3">
                  <c:v>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BA5-3348-AC38-A979DF9C397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C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9525" cap="flat">
              <a:solidFill>
                <a:srgbClr val="E3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C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1F2A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1F2A37"/>
                </a:solidFill>
                <a:latin typeface="+mn-lt"/>
              </a:rPr>
              <a:t>% of small firms (10–49) that considered AI but do not use it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EU-27</c:v>
                </c:pt>
              </c:strCache>
            </c:strRef>
          </c:tx>
          <c:spPr>
            <a:solidFill>
              <a:srgbClr val="1B7FA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7"/>
                    </a:solidFill>
                    <a:latin typeface="+mn-lt"/>
                  </a:defRPr>
                </a:pPr>
                <a:endParaRPr lang="pl-P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Ethical concerns</c:v>
                </c:pt>
                <c:pt idx="1">
                  <c:v>Problems with data (availability, quality)</c:v>
                </c:pt>
                <c:pt idx="2">
                  <c:v>AI is not useful for the firm</c:v>
                </c:pt>
                <c:pt idx="3">
                  <c:v>Not compatible with current systems</c:v>
                </c:pt>
                <c:pt idx="4">
                  <c:v>Data protection and privacy concerns</c:v>
                </c:pt>
                <c:pt idx="5">
                  <c:v>Unclear legal consequences</c:v>
                </c:pt>
                <c:pt idx="6">
                  <c:v>Costs seem too high</c:v>
                </c:pt>
                <c:pt idx="7">
                  <c:v>Lack of relevant expertise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25.31</c:v>
                </c:pt>
                <c:pt idx="1">
                  <c:v>43.66</c:v>
                </c:pt>
                <c:pt idx="2">
                  <c:v>19.22</c:v>
                </c:pt>
                <c:pt idx="3">
                  <c:v>41.69</c:v>
                </c:pt>
                <c:pt idx="4">
                  <c:v>52.49</c:v>
                </c:pt>
                <c:pt idx="5">
                  <c:v>54.79</c:v>
                </c:pt>
                <c:pt idx="6">
                  <c:v>38.82</c:v>
                </c:pt>
                <c:pt idx="7">
                  <c:v>70.87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F0-1D44-8EA5-EA15E614FC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Poland</c:v>
                </c:pt>
              </c:strCache>
            </c:strRef>
          </c:tx>
          <c:spPr>
            <a:solidFill>
              <a:srgbClr val="D9661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7"/>
                    </a:solidFill>
                    <a:latin typeface="+mn-lt"/>
                  </a:defRPr>
                </a:pPr>
                <a:endParaRPr lang="pl-P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Ethical concerns</c:v>
                </c:pt>
                <c:pt idx="1">
                  <c:v>Problems with data (availability, quality)</c:v>
                </c:pt>
                <c:pt idx="2">
                  <c:v>AI is not useful for the firm</c:v>
                </c:pt>
                <c:pt idx="3">
                  <c:v>Not compatible with current systems</c:v>
                </c:pt>
                <c:pt idx="4">
                  <c:v>Data protection and privacy concerns</c:v>
                </c:pt>
                <c:pt idx="5">
                  <c:v>Unclear legal consequences</c:v>
                </c:pt>
                <c:pt idx="6">
                  <c:v>Costs seem too high</c:v>
                </c:pt>
                <c:pt idx="7">
                  <c:v>Lack of relevant expertise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26.89</c:v>
                </c:pt>
                <c:pt idx="1">
                  <c:v>33.19</c:v>
                </c:pt>
                <c:pt idx="2">
                  <c:v>37.17</c:v>
                </c:pt>
                <c:pt idx="3">
                  <c:v>39.61</c:v>
                </c:pt>
                <c:pt idx="4">
                  <c:v>48.34</c:v>
                </c:pt>
                <c:pt idx="5">
                  <c:v>52.82</c:v>
                </c:pt>
                <c:pt idx="6">
                  <c:v>52.88</c:v>
                </c:pt>
                <c:pt idx="7">
                  <c:v>63.41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F0-1D44-8EA5-EA15E614FC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-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C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b"/>
        <c:majorGridlines>
          <c:spPr>
            <a:ln w="9525" cap="flat">
              <a:solidFill>
                <a:srgbClr val="E3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C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1F2A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377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1031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74904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103120"/>
            <a:ext cx="11094415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Small Polish Firms – Problem and Data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74904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Homework 2</a:t>
            </a:r>
            <a:r>
              <a:rPr lang="en-US" dirty="0"/>
              <a:t>.1</a:t>
            </a:r>
            <a:r>
              <a:rPr lang="en-US" sz="1800" dirty="0">
                <a:solidFill>
                  <a:schemeClr val="bg2"/>
                </a:solidFill>
              </a:rPr>
              <a:t>  ·  </a:t>
            </a:r>
            <a:r>
              <a:rPr lang="en-US" sz="1800">
                <a:solidFill>
                  <a:schemeClr val="bg2"/>
                </a:solidFill>
              </a:rPr>
              <a:t>Jakub Wojciechowski 49872  </a:t>
            </a:r>
            <a:r>
              <a:rPr lang="en-US" sz="1800" dirty="0">
                <a:solidFill>
                  <a:schemeClr val="bg2"/>
                </a:solidFill>
              </a:rPr>
              <a:t>·  Kozminski University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area of interest: AI in business</a:t>
            </a:r>
            <a:endParaRPr lang="en-US" sz="3000" dirty="0"/>
          </a:p>
        </p:txBody>
      </p:sp>
      <p:sp>
        <p:nvSpPr>
          <p:cNvPr id="3" name="why area"/>
          <p:cNvSpPr/>
          <p:nvPr/>
        </p:nvSpPr>
        <p:spPr>
          <a:xfrm>
            <a:off x="548640" y="1280160"/>
            <a:ext cx="35661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 txBox="1"/>
          <p:nvPr/>
        </p:nvSpPr>
        <p:spPr>
          <a:xfrm>
            <a:off x="713232" y="1389888"/>
            <a:ext cx="323697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Why this area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My studies combine management and artificial intelligence.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 want to build my career where business meets AI.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AI is one of the fastest-growing areas in the EU economy.</a:t>
            </a:r>
            <a:endParaRPr lang="en-US" sz="1500" dirty="0"/>
          </a:p>
        </p:txBody>
      </p:sp>
      <p:sp>
        <p:nvSpPr>
          <p:cNvPr id="5" name="expertise"/>
          <p:cNvSpPr/>
          <p:nvPr/>
        </p:nvSpPr>
        <p:spPr>
          <a:xfrm>
            <a:off x="4389120" y="1280160"/>
            <a:ext cx="35661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 txBox="1"/>
          <p:nvPr/>
        </p:nvSpPr>
        <p:spPr>
          <a:xfrm>
            <a:off x="4553712" y="1389888"/>
            <a:ext cx="323697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Expertise I want to build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How firms choose and adopt AI tools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Measuring the business value of AI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Data-driven decisions in management</a:t>
            </a:r>
            <a:endParaRPr lang="en-US" sz="1500" dirty="0"/>
          </a:p>
        </p:txBody>
      </p:sp>
      <p:sp>
        <p:nvSpPr>
          <p:cNvPr id="7" name="career"/>
          <p:cNvSpPr/>
          <p:nvPr/>
        </p:nvSpPr>
        <p:spPr>
          <a:xfrm>
            <a:off x="8229600" y="1280160"/>
            <a:ext cx="3410712" cy="2743200"/>
          </a:xfrm>
          <a:prstGeom prst="roundRect">
            <a:avLst>
              <a:gd name="adj" fmla="val 2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 txBox="1"/>
          <p:nvPr/>
        </p:nvSpPr>
        <p:spPr>
          <a:xfrm>
            <a:off x="8394192" y="1389888"/>
            <a:ext cx="3081528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Business and career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Helping firms adopt AI is a growing market: tools, training and consulting.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Roles: AI adoption consultant, business analyst, product manager.</a:t>
            </a:r>
            <a:endParaRPr lang="en-US" sz="1500" dirty="0"/>
          </a:p>
        </p:txBody>
      </p:sp>
      <p:sp>
        <p:nvSpPr>
          <p:cNvPr id="9" name="scope"/>
          <p:cNvSpPr/>
          <p:nvPr/>
        </p:nvSpPr>
        <p:spPr>
          <a:xfrm>
            <a:off x="548640" y="4297680"/>
            <a:ext cx="11094415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 txBox="1"/>
          <p:nvPr/>
        </p:nvSpPr>
        <p:spPr>
          <a:xfrm>
            <a:off x="713232" y="4407408"/>
            <a:ext cx="10765231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In this homework: a list of problems in this area, one selected problem, and the data needed to solve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of problems in this area</a:t>
            </a:r>
            <a:endParaRPr lang="en-US" sz="3000" dirty="0"/>
          </a:p>
        </p:txBody>
      </p:sp>
      <p:sp>
        <p:nvSpPr>
          <p:cNvPr id="3" name="problem 1"/>
          <p:cNvSpPr/>
          <p:nvPr/>
        </p:nvSpPr>
        <p:spPr>
          <a:xfrm>
            <a:off x="548640" y="128016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 txBox="1"/>
          <p:nvPr/>
        </p:nvSpPr>
        <p:spPr>
          <a:xfrm>
            <a:off x="713232" y="1389888"/>
            <a:ext cx="318607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</a:rPr>
              <a:t>Unresolved question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are Polish firms behind the EU in AI adoption?</a:t>
            </a:r>
            <a:endParaRPr lang="en-US" sz="1500" dirty="0"/>
          </a:p>
        </p:txBody>
      </p:sp>
      <p:sp>
        <p:nvSpPr>
          <p:cNvPr id="5" name="problem 2"/>
          <p:cNvSpPr/>
          <p:nvPr/>
        </p:nvSpPr>
        <p:spPr>
          <a:xfrm>
            <a:off x="4338218" y="128016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 txBox="1"/>
          <p:nvPr/>
        </p:nvSpPr>
        <p:spPr>
          <a:xfrm>
            <a:off x="4502810" y="1389888"/>
            <a:ext cx="318607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SELECTED  ·  Existing problem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What stops small Polish firms from adopting AI, and how can this change?</a:t>
            </a:r>
            <a:endParaRPr lang="en-US" sz="1500" dirty="0"/>
          </a:p>
        </p:txBody>
      </p:sp>
      <p:sp>
        <p:nvSpPr>
          <p:cNvPr id="7" name="problem 3"/>
          <p:cNvSpPr/>
          <p:nvPr/>
        </p:nvSpPr>
        <p:spPr>
          <a:xfrm>
            <a:off x="8127797" y="128016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 txBox="1"/>
          <p:nvPr/>
        </p:nvSpPr>
        <p:spPr>
          <a:xfrm>
            <a:off x="8292389" y="1389888"/>
            <a:ext cx="318607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</a:rPr>
              <a:t>Future opportunity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Which jobs in Poland are most exposed to automation by AI?</a:t>
            </a:r>
            <a:endParaRPr lang="en-US" sz="1500" dirty="0"/>
          </a:p>
        </p:txBody>
      </p:sp>
      <p:sp>
        <p:nvSpPr>
          <p:cNvPr id="9" name="problem 4"/>
          <p:cNvSpPr/>
          <p:nvPr/>
        </p:nvSpPr>
        <p:spPr>
          <a:xfrm>
            <a:off x="548640" y="365760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 txBox="1"/>
          <p:nvPr/>
        </p:nvSpPr>
        <p:spPr>
          <a:xfrm>
            <a:off x="713232" y="3767328"/>
            <a:ext cx="318607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</a:rPr>
              <a:t>Existing problem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How are AI skills changing what employers ask for in job offers?</a:t>
            </a:r>
            <a:endParaRPr lang="en-US" sz="1500" dirty="0"/>
          </a:p>
        </p:txBody>
      </p:sp>
      <p:sp>
        <p:nvSpPr>
          <p:cNvPr id="11" name="problem 5"/>
          <p:cNvSpPr/>
          <p:nvPr/>
        </p:nvSpPr>
        <p:spPr>
          <a:xfrm>
            <a:off x="4338218" y="365760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 txBox="1"/>
          <p:nvPr/>
        </p:nvSpPr>
        <p:spPr>
          <a:xfrm>
            <a:off x="4502810" y="3767328"/>
            <a:ext cx="318607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</a:rPr>
              <a:t>Existing problem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Does a lack of IT specialists slow down digital change in small firms?</a:t>
            </a:r>
            <a:endParaRPr lang="en-US" sz="1500" dirty="0"/>
          </a:p>
        </p:txBody>
      </p:sp>
      <p:sp>
        <p:nvSpPr>
          <p:cNvPr id="13" name="problem 6"/>
          <p:cNvSpPr/>
          <p:nvPr/>
        </p:nvSpPr>
        <p:spPr>
          <a:xfrm>
            <a:off x="8127797" y="365760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 txBox="1"/>
          <p:nvPr/>
        </p:nvSpPr>
        <p:spPr>
          <a:xfrm>
            <a:off x="8292389" y="3767328"/>
            <a:ext cx="318607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</a:rPr>
              <a:t>Future opportunity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How will the EU AI Act and GDPR affect AI use in firms?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problem</a:t>
            </a:r>
            <a:endParaRPr lang="en-US" sz="3000" dirty="0"/>
          </a:p>
        </p:txBody>
      </p:sp>
      <p:sp>
        <p:nvSpPr>
          <p:cNvPr id="3" name="problem statement"/>
          <p:cNvSpPr/>
          <p:nvPr/>
        </p:nvSpPr>
        <p:spPr>
          <a:xfrm>
            <a:off x="548640" y="1234440"/>
            <a:ext cx="11094415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 txBox="1"/>
          <p:nvPr/>
        </p:nvSpPr>
        <p:spPr>
          <a:xfrm>
            <a:off x="713232" y="1344168"/>
            <a:ext cx="10765231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What stops small Polish firms (10–49 persons employed) from adopting AI, and how can this change?</a:t>
            </a:r>
            <a:endParaRPr lang="en-US" sz="1500" dirty="0"/>
          </a:p>
        </p:txBody>
      </p:sp>
      <p:sp>
        <p:nvSpPr>
          <p:cNvPr id="5" name="stat Small firms using AI – Poland (2025)"/>
          <p:cNvSpPr/>
          <p:nvPr/>
        </p:nvSpPr>
        <p:spPr>
          <a:xfrm>
            <a:off x="548640" y="265176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 txBox="1"/>
          <p:nvPr/>
        </p:nvSpPr>
        <p:spPr>
          <a:xfrm>
            <a:off x="548640" y="276148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96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53872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Small firms using AI – Poland (2025)</a:t>
            </a:r>
            <a:endParaRPr lang="en-US" sz="1300" dirty="0"/>
          </a:p>
        </p:txBody>
      </p:sp>
      <p:sp>
        <p:nvSpPr>
          <p:cNvPr id="8" name="stat Small firms using AI – EU (2025)"/>
          <p:cNvSpPr/>
          <p:nvPr/>
        </p:nvSpPr>
        <p:spPr>
          <a:xfrm>
            <a:off x="3337560" y="265176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 txBox="1"/>
          <p:nvPr/>
        </p:nvSpPr>
        <p:spPr>
          <a:xfrm>
            <a:off x="3337560" y="276148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7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17.0%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353872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Small firms using AI – EU (2025)</a:t>
            </a:r>
            <a:endParaRPr lang="en-US" sz="1300" dirty="0"/>
          </a:p>
        </p:txBody>
      </p:sp>
      <p:sp>
        <p:nvSpPr>
          <p:cNvPr id="11" name="why chosen"/>
          <p:cNvSpPr/>
          <p:nvPr/>
        </p:nvSpPr>
        <p:spPr>
          <a:xfrm>
            <a:off x="6263640" y="2651760"/>
            <a:ext cx="5379415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 txBox="1"/>
          <p:nvPr/>
        </p:nvSpPr>
        <p:spPr>
          <a:xfrm>
            <a:off x="6428232" y="2761488"/>
            <a:ext cx="5050231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Why I chose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Compared to the EU, small firms are furthest behind: about 3 times lower AI use.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Large Polish firms reach 83% of the EU level (45.8% vs 55.0%).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is a business opportunity: cheaper ready-made tools, training and advice for small firms.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Good public data exists for it.</a:t>
            </a:r>
            <a:endParaRPr lang="en-US" sz="1500" dirty="0"/>
          </a:p>
        </p:txBody>
      </p:sp>
      <p:sp>
        <p:nvSpPr>
          <p:cNvPr id="13" name="definition"/>
          <p:cNvSpPr/>
          <p:nvPr/>
        </p:nvSpPr>
        <p:spPr>
          <a:xfrm>
            <a:off x="548640" y="4343400"/>
            <a:ext cx="5394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 txBox="1"/>
          <p:nvPr/>
        </p:nvSpPr>
        <p:spPr>
          <a:xfrm>
            <a:off x="713232" y="4453128"/>
            <a:ext cx="506577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Definition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Small firm = 10–49 persons employed (Eurostat definition). Source of numbers: Eurostat, table isoc_eb_ai.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1a–b: What kind of data is needed?</a:t>
            </a:r>
            <a:endParaRPr lang="en-US" sz="3000" dirty="0"/>
          </a:p>
        </p:txBody>
      </p:sp>
      <p:sp>
        <p:nvSpPr>
          <p:cNvPr id="3" name="structured"/>
          <p:cNvSpPr/>
          <p:nvPr/>
        </p:nvSpPr>
        <p:spPr>
          <a:xfrm>
            <a:off x="548640" y="1280160"/>
            <a:ext cx="53949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 txBox="1"/>
          <p:nvPr/>
        </p:nvSpPr>
        <p:spPr>
          <a:xfrm>
            <a:off x="713232" y="1389888"/>
            <a:ext cx="506577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a. Structured data (main)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Tables with numbers: % of firms using AI, % of firms naming each barrier.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Easy to compare across countries, years and firm sizes.</a:t>
            </a:r>
            <a:endParaRPr lang="en-US" sz="1500" dirty="0"/>
          </a:p>
        </p:txBody>
      </p:sp>
      <p:sp>
        <p:nvSpPr>
          <p:cNvPr id="5" name="unstructured"/>
          <p:cNvSpPr/>
          <p:nvPr/>
        </p:nvSpPr>
        <p:spPr>
          <a:xfrm>
            <a:off x="548640" y="3749040"/>
            <a:ext cx="539496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 txBox="1"/>
          <p:nvPr/>
        </p:nvSpPr>
        <p:spPr>
          <a:xfrm>
            <a:off x="713232" y="3858768"/>
            <a:ext cx="506577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a. Unstructured data (extra)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Open answers from interviews with small-firm owners.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Explains the "why" behind the numbers.</a:t>
            </a:r>
            <a:endParaRPr lang="en-US" sz="1500" dirty="0"/>
          </a:p>
        </p:txBody>
      </p:sp>
      <p:sp>
        <p:nvSpPr>
          <p:cNvPr id="7" name="panel"/>
          <p:cNvSpPr/>
          <p:nvPr/>
        </p:nvSpPr>
        <p:spPr>
          <a:xfrm>
            <a:off x="6217920" y="1280160"/>
            <a:ext cx="5425135" cy="4709160"/>
          </a:xfrm>
          <a:prstGeom prst="roundRect">
            <a:avLst>
              <a:gd name="adj" fmla="val 155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 txBox="1"/>
          <p:nvPr/>
        </p:nvSpPr>
        <p:spPr>
          <a:xfrm>
            <a:off x="6382512" y="1389888"/>
            <a:ext cx="5095951" cy="4489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b. Panel data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The same units observed over several years: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Units: countries (Poland, EU average, other EU countries)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Time: 2021, 2023, 2024, 2025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Extra dimension: firm size (10–49, 50–249, 250+)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Cross-sectional data (one year) would show the gap but not how it changes. A time series for Poland alone would not allow a comparison with other countries.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1c: How can the data be collected?</a:t>
            </a:r>
            <a:endParaRPr lang="en-US" sz="3000" dirty="0"/>
          </a:p>
        </p:txBody>
      </p:sp>
      <p:sp>
        <p:nvSpPr>
          <p:cNvPr id="3" name="secondary"/>
          <p:cNvSpPr/>
          <p:nvPr/>
        </p:nvSpPr>
        <p:spPr>
          <a:xfrm>
            <a:off x="548640" y="1280160"/>
            <a:ext cx="5410048" cy="2788920"/>
          </a:xfrm>
          <a:prstGeom prst="roundRect">
            <a:avLst>
              <a:gd name="adj" fmla="val 262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 txBox="1"/>
          <p:nvPr/>
        </p:nvSpPr>
        <p:spPr>
          <a:xfrm>
            <a:off x="713232" y="1389888"/>
            <a:ext cx="5080864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Secondary data (used now)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Eurostat survey on ICT use in enterprises, run every year in all EU countries.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Official, free and comparable between countries.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Gives: AI use by firm size and the reasons why firms do not use AI.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Limit: no data for Polish micro firms (under 10 persons).</a:t>
            </a:r>
            <a:endParaRPr lang="en-US" sz="1500" dirty="0"/>
          </a:p>
        </p:txBody>
      </p:sp>
      <p:sp>
        <p:nvSpPr>
          <p:cNvPr id="5" name="primary"/>
          <p:cNvSpPr/>
          <p:nvPr/>
        </p:nvSpPr>
        <p:spPr>
          <a:xfrm>
            <a:off x="6233008" y="1280160"/>
            <a:ext cx="5410048" cy="2788920"/>
          </a:xfrm>
          <a:prstGeom prst="roundRect">
            <a:avLst>
              <a:gd name="adj" fmla="val 262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 txBox="1"/>
          <p:nvPr/>
        </p:nvSpPr>
        <p:spPr>
          <a:xfrm>
            <a:off x="6397600" y="1389888"/>
            <a:ext cx="5080864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Primary data (proposed)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Short online survey of owners of micro and small firms in Poland.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few interviews with owners who tried AI and stopped.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Covers what Eurostat misses: micro firms, costs in PLN, which tools they know.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Limit: smaller sample, takes time to collect.</a:t>
            </a:r>
            <a:endParaRPr lang="en-US" sz="1500" dirty="0"/>
          </a:p>
        </p:txBody>
      </p:sp>
      <p:sp>
        <p:nvSpPr>
          <p:cNvPr id="7" name="plan"/>
          <p:cNvSpPr/>
          <p:nvPr/>
        </p:nvSpPr>
        <p:spPr>
          <a:xfrm>
            <a:off x="548640" y="4343400"/>
            <a:ext cx="11094415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 txBox="1"/>
          <p:nvPr/>
        </p:nvSpPr>
        <p:spPr>
          <a:xfrm>
            <a:off x="713232" y="4453128"/>
            <a:ext cx="10765231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Plan: secondary data now shows how big the gap is. Primary data next explains why, and covers micro firms.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1d: Sources and repositories</a:t>
            </a:r>
            <a:endParaRPr lang="en-US" sz="3000" dirty="0"/>
          </a:p>
        </p:txBody>
      </p:sp>
      <p:graphicFrame>
        <p:nvGraphicFramePr>
          <p:cNvPr id="8" name="sourc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What it gives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</a:rPr>
                        <a:t>Eurostat – table isoc_eb_ai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</a:rPr>
                        <a:t>AI use and barriers by country, year and firm size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</a:rPr>
                        <a:t>Secondary – collected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</a:rPr>
                        <a:t>Eurostat database – other ICT tables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</a:rPr>
                        <a:t>Digital skills and ICT specialists, as context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</a:rPr>
                        <a:t>Secondary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</a:rPr>
                        <a:t>Statistics Poland (GUS) – "Information society in Poland"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</a:rPr>
                        <a:t>Polish view of ICT and AI use in firms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</a:rPr>
                        <a:t>Secondary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</a:rPr>
                        <a:t>Own online survey (Google Forms / MS Forms)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</a:rPr>
                        <a:t>Barriers, costs and plans of micro and small firms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</a:rPr>
                        <a:t>Primary – proposed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</a:rPr>
                        <a:t>Interviews with firm owners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</a:rPr>
                        <a:t>Reasons and stories behind the numbers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</a:rPr>
                        <a:t>Primary – proposed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Access: Eurostat data can be downloaded in Python with the eurostat package or from the Eurostat website.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1e: Collecting the data</a:t>
            </a:r>
            <a:endParaRPr lang="en-US" sz="3000" dirty="0"/>
          </a:p>
        </p:txBody>
      </p:sp>
      <p:sp>
        <p:nvSpPr>
          <p:cNvPr id="3" name="stat rows downloaded"/>
          <p:cNvSpPr/>
          <p:nvPr/>
        </p:nvSpPr>
        <p:spPr>
          <a:xfrm>
            <a:off x="548640" y="1234440"/>
            <a:ext cx="2602154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 txBox="1"/>
          <p:nvPr/>
        </p:nvSpPr>
        <p:spPr>
          <a:xfrm>
            <a:off x="548640" y="1344168"/>
            <a:ext cx="26021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25,263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21408"/>
            <a:ext cx="241927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rows downloaded</a:t>
            </a:r>
            <a:endParaRPr lang="en-US" sz="1300" dirty="0"/>
          </a:p>
        </p:txBody>
      </p:sp>
      <p:sp>
        <p:nvSpPr>
          <p:cNvPr id="6" name="stat values after reshaping"/>
          <p:cNvSpPr/>
          <p:nvPr/>
        </p:nvSpPr>
        <p:spPr>
          <a:xfrm>
            <a:off x="3379394" y="1234440"/>
            <a:ext cx="2602154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 txBox="1"/>
          <p:nvPr/>
        </p:nvSpPr>
        <p:spPr>
          <a:xfrm>
            <a:off x="3379394" y="1344168"/>
            <a:ext cx="26021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70,756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470834" y="2121408"/>
            <a:ext cx="241927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values after reshaping</a:t>
            </a:r>
            <a:endParaRPr lang="en-US" sz="1300" dirty="0"/>
          </a:p>
        </p:txBody>
      </p:sp>
      <p:sp>
        <p:nvSpPr>
          <p:cNvPr id="9" name="stat indicators"/>
          <p:cNvSpPr/>
          <p:nvPr/>
        </p:nvSpPr>
        <p:spPr>
          <a:xfrm>
            <a:off x="6210148" y="1234440"/>
            <a:ext cx="2602154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 txBox="1"/>
          <p:nvPr/>
        </p:nvSpPr>
        <p:spPr>
          <a:xfrm>
            <a:off x="6210148" y="1344168"/>
            <a:ext cx="26021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301588" y="2121408"/>
            <a:ext cx="241927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indicators</a:t>
            </a:r>
            <a:endParaRPr lang="en-US" sz="1300" dirty="0"/>
          </a:p>
        </p:txBody>
      </p:sp>
      <p:sp>
        <p:nvSpPr>
          <p:cNvPr id="12" name="stat years (2021, 2023–2025)"/>
          <p:cNvSpPr/>
          <p:nvPr/>
        </p:nvSpPr>
        <p:spPr>
          <a:xfrm>
            <a:off x="9040901" y="1234440"/>
            <a:ext cx="2602154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 txBox="1"/>
          <p:nvPr/>
        </p:nvSpPr>
        <p:spPr>
          <a:xfrm>
            <a:off x="9040901" y="1344168"/>
            <a:ext cx="26021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132341" y="2121408"/>
            <a:ext cx="241927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years (2021, 2023–2025)</a:t>
            </a:r>
            <a:endParaRPr lang="en-US" sz="1300" dirty="0"/>
          </a:p>
        </p:txBody>
      </p:sp>
      <p:sp>
        <p:nvSpPr>
          <p:cNvPr id="15" name="code"/>
          <p:cNvSpPr/>
          <p:nvPr/>
        </p:nvSpPr>
        <p:spPr>
          <a:xfrm>
            <a:off x="548640" y="2971800"/>
            <a:ext cx="6035040" cy="3017520"/>
          </a:xfrm>
          <a:prstGeom prst="roundRect">
            <a:avLst>
              <a:gd name="adj" fmla="val 2424"/>
            </a:avLst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 txBox="1"/>
          <p:nvPr/>
        </p:nvSpPr>
        <p:spPr>
          <a:xfrm>
            <a:off x="777240" y="310896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eurostat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eurostat.get_data_df('isoc_eb_ai')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df.melt(...)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usage_table = ...pivot_table(...)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barriers_table = ...pivot_table(...)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df.to_csv('eurostat_ai_enterprises.csv', index=False)</a:t>
            </a:r>
            <a:endParaRPr lang="en-US" sz="1400" dirty="0"/>
          </a:p>
        </p:txBody>
      </p:sp>
      <p:sp>
        <p:nvSpPr>
          <p:cNvPr id="17" name="files"/>
          <p:cNvSpPr/>
          <p:nvPr/>
        </p:nvSpPr>
        <p:spPr>
          <a:xfrm>
            <a:off x="6858000" y="2971800"/>
            <a:ext cx="4785055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 txBox="1"/>
          <p:nvPr/>
        </p:nvSpPr>
        <p:spPr>
          <a:xfrm>
            <a:off x="7022592" y="3081528"/>
            <a:ext cx="4455871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Files saved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eurostat_ai_enterprises.csv – full dataset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ai_usage_pl_vs_eu.csv – AI use, Poland vs EU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ai_barriers_small_firms_2025.csv – barriers in small firms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Code: Jakub_Wojciechowski_49872_homework_2_1_data.ipynb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look: AI use by firm size (2025)</a:t>
            </a:r>
            <a:endParaRPr lang="en-US" sz="3000" dirty="0"/>
          </a:p>
        </p:txBody>
      </p:sp>
      <p:graphicFrame>
        <p:nvGraphicFramePr>
          <p:cNvPr id="3" name="chart size"/>
          <p:cNvGraphicFramePr/>
          <p:nvPr/>
        </p:nvGraphicFramePr>
        <p:xfrm>
          <a:off x="548640" y="1188720"/>
          <a:ext cx="75895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ize comment"/>
          <p:cNvSpPr/>
          <p:nvPr/>
        </p:nvSpPr>
        <p:spPr>
          <a:xfrm>
            <a:off x="8412480" y="1371600"/>
            <a:ext cx="3230575" cy="448056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2"/>
          <p:cNvSpPr txBox="1"/>
          <p:nvPr/>
        </p:nvSpPr>
        <p:spPr>
          <a:xfrm>
            <a:off x="8577072" y="1481328"/>
            <a:ext cx="2901391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What it shows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Small firms: 5.8% in Poland vs 17.0% in the EU.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bigger the firm, the more it uses AI.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Compared to the EU, small firms are furthest behind (about 3 times lower). Large Polish firms reach 83% of the EU level.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look: small firms over time</a:t>
            </a:r>
            <a:endParaRPr lang="en-US" sz="3000" dirty="0"/>
          </a:p>
        </p:txBody>
      </p:sp>
      <p:graphicFrame>
        <p:nvGraphicFramePr>
          <p:cNvPr id="3" name="chart trend"/>
          <p:cNvGraphicFramePr/>
          <p:nvPr/>
        </p:nvGraphicFramePr>
        <p:xfrm>
          <a:off x="548640" y="1188720"/>
          <a:ext cx="75895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rend comment"/>
          <p:cNvSpPr/>
          <p:nvPr/>
        </p:nvSpPr>
        <p:spPr>
          <a:xfrm>
            <a:off x="8412480" y="1371600"/>
            <a:ext cx="3230575" cy="448056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2"/>
          <p:cNvSpPr txBox="1"/>
          <p:nvPr/>
        </p:nvSpPr>
        <p:spPr>
          <a:xfrm>
            <a:off x="8577072" y="1481328"/>
            <a:ext cx="2901391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What it shows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AI use grows in both, but the gap gets wider: 4.2 points in 2021, 11.2 points in 2025.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 points, Poland is falling further behind.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AI questions were not asked in 2022, so that year is missing.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look: why small firms do not use AI (2025)</a:t>
            </a:r>
            <a:endParaRPr lang="en-US" sz="3000" dirty="0"/>
          </a:p>
        </p:txBody>
      </p:sp>
      <p:graphicFrame>
        <p:nvGraphicFramePr>
          <p:cNvPr id="3" name="chart barriers"/>
          <p:cNvGraphicFramePr/>
          <p:nvPr/>
        </p:nvGraphicFramePr>
        <p:xfrm>
          <a:off x="548640" y="1143000"/>
          <a:ext cx="7863840" cy="525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barrier comment"/>
          <p:cNvSpPr/>
          <p:nvPr/>
        </p:nvSpPr>
        <p:spPr>
          <a:xfrm>
            <a:off x="8686800" y="1371600"/>
            <a:ext cx="2956255" cy="448056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2"/>
          <p:cNvSpPr txBox="1"/>
          <p:nvPr/>
        </p:nvSpPr>
        <p:spPr>
          <a:xfrm>
            <a:off x="8851392" y="1481328"/>
            <a:ext cx="2627071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What it shows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Lack of expertise is the top barrier in Poland and the EU.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Polish firms say much more often that costs are too high (52.9% vs 38.8%).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They also say more often that AI is not useful for them (37.2% vs 19.2%).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3000" dirty="0"/>
          </a:p>
        </p:txBody>
      </p:sp>
      <p:sp>
        <p:nvSpPr>
          <p:cNvPr id="3" name="limitations"/>
          <p:cNvSpPr/>
          <p:nvPr/>
        </p:nvSpPr>
        <p:spPr>
          <a:xfrm>
            <a:off x="548640" y="1280160"/>
            <a:ext cx="5410048" cy="4709160"/>
          </a:xfrm>
          <a:prstGeom prst="roundRect">
            <a:avLst>
              <a:gd name="adj" fmla="val 15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 txBox="1"/>
          <p:nvPr/>
        </p:nvSpPr>
        <p:spPr>
          <a:xfrm>
            <a:off x="713232" y="1389888"/>
            <a:ext cx="5080864" cy="4489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Limitations of the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 Eurostat data for Polish micro firms (under 10 persons).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AI questions were not asked in 2022.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 2025 one new AI technology was added to the survey, so 2025 is not fully comparable with earlier years.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Barriers are what firms say themselves, not measured causes.</a:t>
            </a:r>
            <a:endParaRPr lang="en-US" sz="1500" dirty="0"/>
          </a:p>
        </p:txBody>
      </p:sp>
      <p:sp>
        <p:nvSpPr>
          <p:cNvPr id="5" name="next steps"/>
          <p:cNvSpPr/>
          <p:nvPr/>
        </p:nvSpPr>
        <p:spPr>
          <a:xfrm>
            <a:off x="6233008" y="1280160"/>
            <a:ext cx="5410048" cy="4709160"/>
          </a:xfrm>
          <a:prstGeom prst="roundRect">
            <a:avLst>
              <a:gd name="adj" fmla="val 155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 txBox="1"/>
          <p:nvPr/>
        </p:nvSpPr>
        <p:spPr>
          <a:xfrm>
            <a:off x="6397600" y="1389888"/>
            <a:ext cx="5080864" cy="4489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Next steps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Run a short survey among micro and small firms in Poland.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Add Eurostat data on digital skills and ICT specialists.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Compare Poland with similar countries (e.g. Czechia, Slovakia, Hungary).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Use the data to suggest what would help small firms adopt AI.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103120"/>
            <a:ext cx="11094415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Polish firms use AI about 3 times less than small firms in the EU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74904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Panel data from Eurostat (70,756 values, 2021–2025) shows the gap is growing. Main reasons named by firms: lack of expertise, high costs and unclear legal rules. Polish firms also say much more often than EU firms that AI is not useful for them. A survey of micro and small firms is the next step.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mework Teal">
  <a:themeElements>
    <a:clrScheme name="Homework Teal">
      <a:dk1>
        <a:srgbClr val="1F2A37"/>
      </a:dk1>
      <a:lt1>
        <a:srgbClr val="FFFFFF"/>
      </a:lt1>
      <a:dk2>
        <a:srgbClr val="0B4F6C"/>
      </a:dk2>
      <a:lt2>
        <a:srgbClr val="EAF2F5"/>
      </a:lt2>
      <a:accent1>
        <a:srgbClr val="0B4F6C"/>
      </a:accent1>
      <a:accent2>
        <a:srgbClr val="E07A1F"/>
      </a:accent2>
      <a:accent3>
        <a:srgbClr val="2E8B57"/>
      </a:accent3>
      <a:accent4>
        <a:srgbClr val="5B6C7D"/>
      </a:accent4>
      <a:accent5>
        <a:srgbClr val="8FB8CA"/>
      </a:accent5>
      <a:accent6>
        <a:srgbClr val="C94F4F"/>
      </a:accent6>
      <a:hlink>
        <a:srgbClr val="0B4F6C"/>
      </a:hlink>
      <a:folHlink>
        <a:srgbClr val="5B6C7D"/>
      </a:folHlink>
    </a:clrScheme>
    <a:fontScheme name="Homework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1367</Words>
  <Application>Microsoft Macintosh PowerPoint</Application>
  <PresentationFormat>Panoramiczny</PresentationFormat>
  <Paragraphs>164</Paragraphs>
  <Slides>13</Slides>
  <Notes>13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Homework Teal</vt:lpstr>
      <vt:lpstr>AI in Small Polish Firms – Problem and Data</vt:lpstr>
      <vt:lpstr>My area of interest: AI in business</vt:lpstr>
      <vt:lpstr>List of problems in this area</vt:lpstr>
      <vt:lpstr>Selected problem</vt:lpstr>
      <vt:lpstr>Task 1a–b: What kind of data is needed?</vt:lpstr>
      <vt:lpstr>Task 1c: How can the data be collected?</vt:lpstr>
      <vt:lpstr>Task 1d: Sources and repositories</vt:lpstr>
      <vt:lpstr>Task 1e: Collecting the data</vt:lpstr>
      <vt:lpstr>First look: AI use by firm size (2025)</vt:lpstr>
      <vt:lpstr>First look: small firms over time</vt:lpstr>
      <vt:lpstr>First look: why small firms do not use AI (2025)</vt:lpstr>
      <vt:lpstr>Limitations and next steps</vt:lpstr>
      <vt:lpstr>Small Polish firms use AI about 3 times less than small firms in the EU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Small Polish Firms – Problem and Data</dc:title>
  <dc:subject>AI in Small Polish Firms – Problem and Data</dc:subject>
  <dc:creator>Jakub Wojciechowski</dc:creator>
  <cp:lastModifiedBy>Jakub Wojciechowski</cp:lastModifiedBy>
  <cp:revision>1</cp:revision>
  <dcterms:created xsi:type="dcterms:W3CDTF">2026-10-07T20:29:20Z</dcterms:created>
  <dcterms:modified xsi:type="dcterms:W3CDTF">2026-10-07T23:17:53Z</dcterms:modified>
</cp:coreProperties>
</file>