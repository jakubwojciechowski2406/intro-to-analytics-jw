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ub Wojciechowski" userId="ee59becc-10bc-4bea-a8c2-abcd21dbb78b" providerId="ADAL" clId="{6E28A7B6-A803-5EC2-8BCD-1276546AE81E}"/>
    <pc:docChg chg="modSld delSection">
      <pc:chgData name="Jakub Wojciechowski" userId="ee59becc-10bc-4bea-a8c2-abcd21dbb78b" providerId="ADAL" clId="{6E28A7B6-A803-5EC2-8BCD-1276546AE81E}" dt="2026-10-07T23:16:43.677" v="12" actId="20577"/>
      <pc:docMkLst>
        <pc:docMk/>
      </pc:docMkLst>
      <pc:sldChg chg="modSp mod">
        <pc:chgData name="Jakub Wojciechowski" userId="ee59becc-10bc-4bea-a8c2-abcd21dbb78b" providerId="ADAL" clId="{6E28A7B6-A803-5EC2-8BCD-1276546AE81E}" dt="2026-10-07T23:16:43.677" v="12" actId="20577"/>
        <pc:sldMkLst>
          <pc:docMk/>
          <pc:sldMk cId="0" sldId="256"/>
        </pc:sldMkLst>
        <pc:spChg chg="mod">
          <ac:chgData name="Jakub Wojciechowski" userId="ee59becc-10bc-4bea-a8c2-abcd21dbb78b" providerId="ADAL" clId="{6E28A7B6-A803-5EC2-8BCD-1276546AE81E}" dt="2026-10-07T23:16:43.677" v="12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051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031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74904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103120"/>
            <a:ext cx="11094415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Store – Exploratory Data Analysis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74904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>
                <a:solidFill>
                  <a:schemeClr val="bg2"/>
                </a:solidFill>
              </a:rPr>
              <a:t>Homework 4.1  </a:t>
            </a:r>
            <a:r>
              <a:rPr lang="en-US" sz="1800" dirty="0">
                <a:solidFill>
                  <a:schemeClr val="bg2"/>
                </a:solidFill>
              </a:rPr>
              <a:t>·  </a:t>
            </a:r>
            <a:r>
              <a:rPr lang="en-US" sz="1800">
                <a:solidFill>
                  <a:schemeClr val="bg2"/>
                </a:solidFill>
              </a:rPr>
              <a:t>Jakub Wojciechowski 49872  </a:t>
            </a:r>
            <a:r>
              <a:rPr lang="en-US" sz="1800" dirty="0">
                <a:solidFill>
                  <a:schemeClr val="bg2"/>
                </a:solidFill>
              </a:rPr>
              <a:t>·  Kozminski University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tat rows (sales records)"/>
          <p:cNvSpPr/>
          <p:nvPr/>
        </p:nvSpPr>
        <p:spPr>
          <a:xfrm>
            <a:off x="548640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698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214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rows (sales records)</a:t>
            </a:r>
            <a:endParaRPr lang="en-US" sz="1300" dirty="0"/>
          </a:p>
        </p:txBody>
      </p:sp>
      <p:sp>
        <p:nvSpPr>
          <p:cNvPr id="6" name="stat columns (variables)"/>
          <p:cNvSpPr/>
          <p:nvPr/>
        </p:nvSpPr>
        <p:spPr>
          <a:xfrm>
            <a:off x="3364992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 txBox="1"/>
          <p:nvPr/>
        </p:nvSpPr>
        <p:spPr>
          <a:xfrm>
            <a:off x="3364992" y="1389888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364992" y="21214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columns (variables)</a:t>
            </a:r>
            <a:endParaRPr lang="en-US" sz="1300" dirty="0"/>
          </a:p>
        </p:txBody>
      </p:sp>
      <p:sp>
        <p:nvSpPr>
          <p:cNvPr id="9" name="stat missing values"/>
          <p:cNvSpPr/>
          <p:nvPr/>
        </p:nvSpPr>
        <p:spPr>
          <a:xfrm>
            <a:off x="6181344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 txBox="1"/>
          <p:nvPr/>
        </p:nvSpPr>
        <p:spPr>
          <a:xfrm>
            <a:off x="6181344" y="1389888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181344" y="21214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missing values</a:t>
            </a:r>
            <a:endParaRPr lang="en-US" sz="1300" dirty="0"/>
          </a:p>
        </p:txBody>
      </p:sp>
      <p:sp>
        <p:nvSpPr>
          <p:cNvPr id="12" name="stat duplicate rows"/>
          <p:cNvSpPr/>
          <p:nvPr/>
        </p:nvSpPr>
        <p:spPr>
          <a:xfrm>
            <a:off x="8997696" y="1280160"/>
            <a:ext cx="26060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 txBox="1"/>
          <p:nvPr/>
        </p:nvSpPr>
        <p:spPr>
          <a:xfrm>
            <a:off x="8997696" y="1389888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997696" y="21214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duplicate rows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548640" y="2971800"/>
            <a:ext cx="544068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 txBox="1"/>
          <p:nvPr/>
        </p:nvSpPr>
        <p:spPr>
          <a:xfrm>
            <a:off x="685800" y="3063240"/>
            <a:ext cx="5166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Categorical variables (4) + Date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Brand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Product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Product Type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Date (date variable)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6199632" y="2971800"/>
            <a:ext cx="544068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 txBox="1"/>
          <p:nvPr/>
        </p:nvSpPr>
        <p:spPr>
          <a:xfrm>
            <a:off x="6336792" y="3063240"/>
            <a:ext cx="5166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Numerical variables (5)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Sales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Profit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Units Sold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Discount (%)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Customer Rating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data is clean and covers the whole year 2023 (1 Jan – 31 Dec). Date was converted from text to a date.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statistics</a:t>
            </a:r>
            <a:endParaRPr lang="en-US" sz="30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Std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Median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Skewness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Sales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7,358.32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3,094.97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1,254.22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7,355.24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13,641.03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-0.025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Profit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2,488.09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1,004.72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401.08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2,458.86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4,455.56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-0.006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Units Sold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226.72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98.30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50.00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225.00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399.00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-0.016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Discount (%)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12.76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6.82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1.01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12.91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24.89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0.034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Customer Rating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3.66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0.65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1.86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3.65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5.00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-0.100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ard"/>
          <p:cNvSpPr/>
          <p:nvPr/>
        </p:nvSpPr>
        <p:spPr>
          <a:xfrm>
            <a:off x="548640" y="5029200"/>
            <a:ext cx="11094415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 txBox="1"/>
          <p:nvPr/>
        </p:nvSpPr>
        <p:spPr>
          <a:xfrm>
            <a:off x="685800" y="512064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Average sale is 7,358 and average profit is 2,488. On average 227 units are sold, with a 12.8% discount and a 3.66 rating.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Skewness is close to 0 for all variables, so the distributions are symmetric.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numerical variables</a:t>
            </a:r>
            <a:endParaRPr lang="en-US" sz="3000" dirty="0"/>
          </a:p>
        </p:txBody>
      </p:sp>
      <p:pic>
        <p:nvPicPr>
          <p:cNvPr id="3" name="eda_c19_0.png" descr="charts/eda_c1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28827"/>
            <a:ext cx="3576218" cy="2365806"/>
          </a:xfrm>
          <a:prstGeom prst="rect">
            <a:avLst/>
          </a:prstGeom>
        </p:spPr>
      </p:pic>
      <p:pic>
        <p:nvPicPr>
          <p:cNvPr id="4" name="eda_c19_1.png" descr="charts/eda_c19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738" y="1228827"/>
            <a:ext cx="3576218" cy="2365806"/>
          </a:xfrm>
          <a:prstGeom prst="rect">
            <a:avLst/>
          </a:prstGeom>
        </p:spPr>
      </p:pic>
      <p:pic>
        <p:nvPicPr>
          <p:cNvPr id="5" name="eda_c19_2.png" descr="charts/eda_c19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837" y="1228827"/>
            <a:ext cx="3576218" cy="2365806"/>
          </a:xfrm>
          <a:prstGeom prst="rect">
            <a:avLst/>
          </a:prstGeom>
        </p:spPr>
      </p:pic>
      <p:pic>
        <p:nvPicPr>
          <p:cNvPr id="6" name="eda_c19_3.png" descr="charts/eda_c19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49167"/>
            <a:ext cx="3576218" cy="2365806"/>
          </a:xfrm>
          <a:prstGeom prst="rect">
            <a:avLst/>
          </a:prstGeom>
        </p:spPr>
      </p:pic>
      <p:pic>
        <p:nvPicPr>
          <p:cNvPr id="7" name="eda_c19_4.png" descr="charts/eda_c19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7738" y="3949167"/>
            <a:ext cx="3576218" cy="2365806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8066837" y="3863340"/>
            <a:ext cx="3576218" cy="2537460"/>
          </a:xfrm>
          <a:prstGeom prst="roundRect">
            <a:avLst>
              <a:gd name="adj" fmla="val 28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2"/>
          <p:cNvSpPr txBox="1"/>
          <p:nvPr/>
        </p:nvSpPr>
        <p:spPr>
          <a:xfrm>
            <a:off x="8203997" y="3954780"/>
            <a:ext cx="3301898" cy="2354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Sales, Profit, Units Sold and Discount are spread widely over their range, without one clear peak.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Customer Rating has a bell shape with most values around 3.5–4.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plots – no outliers</a:t>
            </a:r>
            <a:endParaRPr lang="en-US" sz="3000" dirty="0"/>
          </a:p>
        </p:txBody>
      </p:sp>
      <p:pic>
        <p:nvPicPr>
          <p:cNvPr id="3" name="eda_c20_0.png" descr="charts/eda_c2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28827"/>
            <a:ext cx="3576218" cy="2365806"/>
          </a:xfrm>
          <a:prstGeom prst="rect">
            <a:avLst/>
          </a:prstGeom>
        </p:spPr>
      </p:pic>
      <p:pic>
        <p:nvPicPr>
          <p:cNvPr id="4" name="eda_c20_1.png" descr="charts/eda_c20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738" y="1228827"/>
            <a:ext cx="3576218" cy="2365806"/>
          </a:xfrm>
          <a:prstGeom prst="rect">
            <a:avLst/>
          </a:prstGeom>
        </p:spPr>
      </p:pic>
      <p:pic>
        <p:nvPicPr>
          <p:cNvPr id="5" name="eda_c20_2.png" descr="charts/eda_c20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837" y="1228827"/>
            <a:ext cx="3576218" cy="2365806"/>
          </a:xfrm>
          <a:prstGeom prst="rect">
            <a:avLst/>
          </a:prstGeom>
        </p:spPr>
      </p:pic>
      <p:pic>
        <p:nvPicPr>
          <p:cNvPr id="6" name="eda_c20_3.png" descr="charts/eda_c20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49167"/>
            <a:ext cx="3576218" cy="2365806"/>
          </a:xfrm>
          <a:prstGeom prst="rect">
            <a:avLst/>
          </a:prstGeom>
        </p:spPr>
      </p:pic>
      <p:pic>
        <p:nvPicPr>
          <p:cNvPr id="7" name="eda_c20_4.png" descr="charts/eda_c20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7738" y="3949167"/>
            <a:ext cx="3576218" cy="2365806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8066837" y="3863340"/>
            <a:ext cx="3576218" cy="2537460"/>
          </a:xfrm>
          <a:prstGeom prst="roundRect">
            <a:avLst>
              <a:gd name="adj" fmla="val 288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2"/>
          <p:cNvSpPr txBox="1"/>
          <p:nvPr/>
        </p:nvSpPr>
        <p:spPr>
          <a:xfrm>
            <a:off x="8203997" y="3954780"/>
            <a:ext cx="3301898" cy="2354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All values are inside the whiskers – there are no outliers in any numerical variable.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in 2023</a:t>
            </a:r>
            <a:endParaRPr lang="en-US" sz="3000" dirty="0"/>
          </a:p>
        </p:txBody>
      </p:sp>
      <p:pic>
        <p:nvPicPr>
          <p:cNvPr id="3" name="eda_c21_0.png" descr="charts/eda_c2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76" y="1143000"/>
            <a:ext cx="6754768" cy="521208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7772400" y="1463040"/>
            <a:ext cx="3867912" cy="4206240"/>
          </a:xfrm>
          <a:prstGeom prst="roundRect">
            <a:avLst>
              <a:gd name="adj" fmla="val 18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 txBox="1"/>
          <p:nvPr/>
        </p:nvSpPr>
        <p:spPr>
          <a:xfrm>
            <a:off x="7909560" y="1554480"/>
            <a:ext cx="3593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Total sales change from month to month.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Highest month: May.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Lowest months: February and March.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There is no clear trend over the year.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variables – frequencies and percentages</a:t>
            </a:r>
            <a:endParaRPr lang="en-US" sz="30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2602154" cy="914400"/>
        </p:xfrm>
        <a:graphic>
          <a:graphicData uri="http://schemas.openxmlformats.org/drawingml/2006/table">
            <a:tbl>
              <a:tblPr/>
              <a:tblGrid>
                <a:gridCol w="135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West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187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26.8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East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184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26.4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South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174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24.9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North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153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21.9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79394" y="1280160"/>
          <a:ext cx="2602154" cy="914400"/>
        </p:xfrm>
        <a:graphic>
          <a:graphicData uri="http://schemas.openxmlformats.org/drawingml/2006/table">
            <a:tbl>
              <a:tblPr/>
              <a:tblGrid>
                <a:gridCol w="135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Brand A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184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26.4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Brand C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180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25.8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Brand B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173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24.8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Brand D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161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23.1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0148" y="1280160"/>
          <a:ext cx="2602154" cy="914400"/>
        </p:xfrm>
        <a:graphic>
          <a:graphicData uri="http://schemas.openxmlformats.org/drawingml/2006/table">
            <a:tbl>
              <a:tblPr/>
              <a:tblGrid>
                <a:gridCol w="135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Product 2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173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24.8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Product 1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140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20.1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Product 5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133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19.1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Product 3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126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18.1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Product 4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126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18.1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40901" y="1280160"/>
          <a:ext cx="2602154" cy="914400"/>
        </p:xfrm>
        <a:graphic>
          <a:graphicData uri="http://schemas.openxmlformats.org/drawingml/2006/table">
            <a:tbl>
              <a:tblPr/>
              <a:tblGrid>
                <a:gridCol w="135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Product Type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Consumer Goods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179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25.6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Electronics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178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25.5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Apparel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176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25.2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Home Appliances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165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23.6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ard"/>
          <p:cNvSpPr/>
          <p:nvPr/>
        </p:nvSpPr>
        <p:spPr>
          <a:xfrm>
            <a:off x="548640" y="4526280"/>
            <a:ext cx="11094415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2"/>
          <p:cNvSpPr txBox="1"/>
          <p:nvPr/>
        </p:nvSpPr>
        <p:spPr>
          <a:xfrm>
            <a:off x="685800" y="4617720"/>
            <a:ext cx="108200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All categories have a similar share of records (about 18–27% each).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Region: West and East have the most records, North the fewest (21.9%).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Product 2 is the most common product (24.8%). Product types are almost equal (23.6–25.6%).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variables – bar charts</a:t>
            </a:r>
            <a:endParaRPr lang="en-US" sz="3000" dirty="0"/>
          </a:p>
        </p:txBody>
      </p:sp>
      <p:pic>
        <p:nvPicPr>
          <p:cNvPr id="3" name="eda_c28_0.png" descr="charts/eda_c2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398" y="1143000"/>
            <a:ext cx="3870251" cy="2560320"/>
          </a:xfrm>
          <a:prstGeom prst="rect">
            <a:avLst/>
          </a:prstGeom>
        </p:spPr>
      </p:pic>
      <p:pic>
        <p:nvPicPr>
          <p:cNvPr id="4" name="eda_c25_0.png" descr="charts/eda_c25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046" y="1143000"/>
            <a:ext cx="3870251" cy="2560320"/>
          </a:xfrm>
          <a:prstGeom prst="rect">
            <a:avLst/>
          </a:prstGeom>
        </p:spPr>
      </p:pic>
      <p:pic>
        <p:nvPicPr>
          <p:cNvPr id="5" name="eda_c29_0.png" descr="charts/eda_c29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398" y="3886200"/>
            <a:ext cx="3870251" cy="2560320"/>
          </a:xfrm>
          <a:prstGeom prst="rect">
            <a:avLst/>
          </a:prstGeom>
        </p:spPr>
      </p:pic>
      <p:pic>
        <p:nvPicPr>
          <p:cNvPr id="6" name="eda_c30_0.png" descr="charts/eda_c30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0046" y="3886200"/>
            <a:ext cx="3870251" cy="2560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type mix by region</a:t>
            </a:r>
            <a:endParaRPr lang="en-US" sz="30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Region (row = 100%)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Apparel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Consumer Goods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Electronics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Home Appliances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East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28.8%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23.9%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20.1%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27.2%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North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24.2%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29.4%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22.9%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23.5%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South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27.0%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25.3%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27.0%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20.7%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</a:rPr>
                        <a:t>West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20.9%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24.6%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31.6%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</a:rPr>
                        <a:t>23.0%</a:t>
                      </a:r>
                      <a:endParaRPr lang="en-US" sz="16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7772400" y="1280160"/>
            <a:ext cx="3867912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 txBox="1"/>
          <p:nvPr/>
        </p:nvSpPr>
        <p:spPr>
          <a:xfrm>
            <a:off x="7909560" y="1371600"/>
            <a:ext cx="359359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Chi-square test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χ² = 10.7846, df = 9, p-value = 0.2908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 &gt; 0.05: the product type mix does not depend on the region.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There are some differences, e.g. Electronics is 31.6% of records in West but 20.1% in East – but the test shows they are not significant.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sales by group</a:t>
            </a:r>
            <a:endParaRPr lang="en-US" sz="3000" dirty="0"/>
          </a:p>
        </p:txBody>
      </p:sp>
      <p:pic>
        <p:nvPicPr>
          <p:cNvPr id="3" name="eda_c34_0.png" descr="charts/eda_c3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77" y="1097280"/>
            <a:ext cx="3904807" cy="2583180"/>
          </a:xfrm>
          <a:prstGeom prst="rect">
            <a:avLst/>
          </a:prstGeom>
        </p:spPr>
      </p:pic>
      <p:pic>
        <p:nvPicPr>
          <p:cNvPr id="4" name="eda_c36_0.png" descr="charts/eda_c36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737" y="1097280"/>
            <a:ext cx="3904807" cy="2583180"/>
          </a:xfrm>
          <a:prstGeom prst="rect">
            <a:avLst/>
          </a:prstGeom>
        </p:spPr>
      </p:pic>
      <p:pic>
        <p:nvPicPr>
          <p:cNvPr id="5" name="eda_c38_0.png" descr="charts/eda_c38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7" y="3863340"/>
            <a:ext cx="3904807" cy="2583180"/>
          </a:xfrm>
          <a:prstGeom prst="rect">
            <a:avLst/>
          </a:prstGeom>
        </p:spPr>
      </p:pic>
      <p:pic>
        <p:nvPicPr>
          <p:cNvPr id="6" name="eda_c40_0.png" descr="charts/eda_c40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737" y="3863340"/>
            <a:ext cx="3904807" cy="258318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9098280" y="1280160"/>
            <a:ext cx="2542032" cy="493776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2"/>
          <p:cNvSpPr txBox="1"/>
          <p:nvPr/>
        </p:nvSpPr>
        <p:spPr>
          <a:xfrm>
            <a:off x="9235440" y="1371600"/>
            <a:ext cx="22677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West and East have the highest sales, North the lowest.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Brand A and Product 2 are the best.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Product types are almost equal.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Totals mostly follow the number of records in each group.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profit by group</a:t>
            </a:r>
            <a:endParaRPr lang="en-US" sz="3000" dirty="0"/>
          </a:p>
        </p:txBody>
      </p:sp>
      <p:pic>
        <p:nvPicPr>
          <p:cNvPr id="3" name="eda_c45_0.png" descr="charts/eda_c4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77" y="1097280"/>
            <a:ext cx="3904807" cy="2583180"/>
          </a:xfrm>
          <a:prstGeom prst="rect">
            <a:avLst/>
          </a:prstGeom>
        </p:spPr>
      </p:pic>
      <p:pic>
        <p:nvPicPr>
          <p:cNvPr id="4" name="eda_c44_0.png" descr="charts/eda_c44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737" y="1097280"/>
            <a:ext cx="3904807" cy="2583180"/>
          </a:xfrm>
          <a:prstGeom prst="rect">
            <a:avLst/>
          </a:prstGeom>
        </p:spPr>
      </p:pic>
      <p:pic>
        <p:nvPicPr>
          <p:cNvPr id="5" name="eda_c46_0.png" descr="charts/eda_c46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7" y="3863340"/>
            <a:ext cx="3904807" cy="2583180"/>
          </a:xfrm>
          <a:prstGeom prst="rect">
            <a:avLst/>
          </a:prstGeom>
        </p:spPr>
      </p:pic>
      <p:pic>
        <p:nvPicPr>
          <p:cNvPr id="6" name="eda_c42_0.png" descr="charts/eda_c42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737" y="3863340"/>
            <a:ext cx="3904807" cy="258318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9098280" y="1280160"/>
            <a:ext cx="2542032" cy="493776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2"/>
          <p:cNvSpPr txBox="1"/>
          <p:nvPr/>
        </p:nvSpPr>
        <p:spPr>
          <a:xfrm>
            <a:off x="9235440" y="1371600"/>
            <a:ext cx="22677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Total profit shows the same ranking as total sales.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West, Brand A and Product 2 have the highest total profit.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Again, groups with more records usually have higher totals.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sales, profit and margin by group</a:t>
            </a:r>
            <a:endParaRPr lang="en-US" sz="3000" dirty="0"/>
          </a:p>
        </p:txBody>
      </p:sp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722376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Group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Sales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Profit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Margin (%)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Region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East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7,358.87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2,489.04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34.22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North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7,438.54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2,500.83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34.03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South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7,202.25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2,436.89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34.41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West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7,437.37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2,524.39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34.61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Brand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Brand A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7,464.44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2,537.45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34.77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Brand B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7,321.70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2,448.89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33.75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Brand C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7,392.11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2,501.89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34.39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Brand D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7,238.61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2,458.38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34.39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Product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Product 1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7,433.74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2,506.63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34.30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Product 2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7,535.33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2,542.06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34.20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Product 3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7,293.27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2,470.37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34.45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Product 4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7,152.74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2,423.84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34.40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Product 5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7,305.07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2,476.05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34.36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37"/>
                          </a:solidFill>
                        </a:rPr>
                        <a:t>Product Type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Apparel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7,191.48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2,440.72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34.63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Consumer Goods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7,246.71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2,455.62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34.34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Electronics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7,423.72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2,516.57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34.40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Home Appliances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7,586.81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2,543.13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F2A37"/>
                          </a:solidFill>
                        </a:rPr>
                        <a:t>33.94</a:t>
                      </a:r>
                      <a:endParaRPr lang="en-US" sz="12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8046720" y="1280160"/>
            <a:ext cx="3593592" cy="4754880"/>
          </a:xfrm>
          <a:prstGeom prst="roundRect">
            <a:avLst>
              <a:gd name="adj" fmla="val 20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 txBox="1"/>
          <p:nvPr/>
        </p:nvSpPr>
        <p:spPr>
          <a:xfrm>
            <a:off x="8183880" y="1371600"/>
            <a:ext cx="3319272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Average profit is very similar in all groups (2,424–2,543).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Profit margin is about 34% everywhere (33.75–34.77%).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Home Appliances has the lowest total profit but the highest average profit (2,543) – it just has fewer records.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group is more profitable per sale.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between numerical variables</a:t>
            </a:r>
            <a:endParaRPr lang="en-US" sz="3000" dirty="0"/>
          </a:p>
        </p:txBody>
      </p:sp>
      <p:pic>
        <p:nvPicPr>
          <p:cNvPr id="3" name="eda_c50_0.png" descr="charts/eda_c5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890" y="1097280"/>
            <a:ext cx="6208939" cy="534924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7772400" y="1463040"/>
            <a:ext cx="3867912" cy="4206240"/>
          </a:xfrm>
          <a:prstGeom prst="roundRect">
            <a:avLst>
              <a:gd name="adj" fmla="val 18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2"/>
          <p:cNvSpPr txBox="1"/>
          <p:nvPr/>
        </p:nvSpPr>
        <p:spPr>
          <a:xfrm>
            <a:off x="7909560" y="1554480"/>
            <a:ext cx="359359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Sales, Profit and Units Sold are almost perfectly correlated (0.99).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Customer Rating has a strong positive correlation with them (0.76–0.78).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Discount has almost no correlation with anything (−0.05 to 0.01).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 – scatter plots</a:t>
            </a:r>
            <a:endParaRPr lang="en-US" sz="3000" dirty="0"/>
          </a:p>
        </p:txBody>
      </p:sp>
      <p:pic>
        <p:nvPicPr>
          <p:cNvPr id="3" name="eda_c51_0.png" descr="charts/eda_c5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77" y="1097280"/>
            <a:ext cx="3904807" cy="2583180"/>
          </a:xfrm>
          <a:prstGeom prst="rect">
            <a:avLst/>
          </a:prstGeom>
        </p:spPr>
      </p:pic>
      <p:pic>
        <p:nvPicPr>
          <p:cNvPr id="4" name="eda_c51_1.png" descr="charts/eda_c5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737" y="1097280"/>
            <a:ext cx="3904807" cy="2583180"/>
          </a:xfrm>
          <a:prstGeom prst="rect">
            <a:avLst/>
          </a:prstGeom>
        </p:spPr>
      </p:pic>
      <p:pic>
        <p:nvPicPr>
          <p:cNvPr id="5" name="eda_c51_2.png" descr="charts/eda_c51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7" y="3863340"/>
            <a:ext cx="3904807" cy="2583180"/>
          </a:xfrm>
          <a:prstGeom prst="rect">
            <a:avLst/>
          </a:prstGeom>
        </p:spPr>
      </p:pic>
      <p:pic>
        <p:nvPicPr>
          <p:cNvPr id="6" name="eda_c51_3.png" descr="charts/eda_c51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737" y="3863340"/>
            <a:ext cx="3904807" cy="2583180"/>
          </a:xfrm>
          <a:prstGeom prst="rect">
            <a:avLst/>
          </a:prstGeom>
        </p:spPr>
      </p:pic>
      <p:sp>
        <p:nvSpPr>
          <p:cNvPr id="7" name="card"/>
          <p:cNvSpPr/>
          <p:nvPr/>
        </p:nvSpPr>
        <p:spPr>
          <a:xfrm>
            <a:off x="9098280" y="1280160"/>
            <a:ext cx="2542032" cy="4937760"/>
          </a:xfrm>
          <a:prstGeom prst="roundRect">
            <a:avLst>
              <a:gd name="adj" fmla="val 2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2"/>
          <p:cNvSpPr txBox="1"/>
          <p:nvPr/>
        </p:nvSpPr>
        <p:spPr>
          <a:xfrm>
            <a:off x="9235440" y="1371600"/>
            <a:ext cx="226771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Profit grows with Sales, and Sales grow with Units Sold, in an almost straight line.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Higher ratings come with higher sales.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Discount line is flat – a bigger discount does not change profit.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 by category – box plots and ANOVA</a:t>
            </a:r>
            <a:endParaRPr lang="en-US" sz="3000" dirty="0"/>
          </a:p>
        </p:txBody>
      </p:sp>
      <p:pic>
        <p:nvPicPr>
          <p:cNvPr id="3" name="eda_c52_0.png" descr="charts/eda_c5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63926"/>
            <a:ext cx="3703320" cy="2449889"/>
          </a:xfrm>
          <a:prstGeom prst="rect">
            <a:avLst/>
          </a:prstGeom>
        </p:spPr>
      </p:pic>
      <p:pic>
        <p:nvPicPr>
          <p:cNvPr id="4" name="eda_c52_1.png" descr="charts/eda_c5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163926"/>
            <a:ext cx="3703320" cy="2449889"/>
          </a:xfrm>
          <a:prstGeom prst="rect">
            <a:avLst/>
          </a:prstGeom>
        </p:spPr>
      </p:pic>
      <p:pic>
        <p:nvPicPr>
          <p:cNvPr id="5" name="eda_c52_2.png" descr="charts/eda_c52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29986"/>
            <a:ext cx="3703320" cy="2449889"/>
          </a:xfrm>
          <a:prstGeom prst="rect">
            <a:avLst/>
          </a:prstGeom>
        </p:spPr>
      </p:pic>
      <p:pic>
        <p:nvPicPr>
          <p:cNvPr id="6" name="eda_c52_3.png" descr="charts/eda_c52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929986"/>
            <a:ext cx="3703320" cy="2449889"/>
          </a:xfrm>
          <a:prstGeom prst="rect">
            <a:avLst/>
          </a:prstGeom>
        </p:spPr>
      </p:pic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0" y="1280160"/>
          <a:ext cx="3273552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</a:rPr>
                        <a:t>Region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0.239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0.869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</a:rPr>
                        <a:t>Brand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0.293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0.830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</a:rPr>
                        <a:t>Product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0.279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0.892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</a:rPr>
                        <a:t>Product Type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0.404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</a:rPr>
                        <a:t>0.750</a:t>
                      </a:r>
                      <a:endParaRPr lang="en-US" sz="1400" dirty="0"/>
                    </a:p>
                  </a:txBody>
                  <a:tcPr marL="45720" marR="45720" anchor="ctr">
                    <a:lnL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ard"/>
          <p:cNvSpPr/>
          <p:nvPr/>
        </p:nvSpPr>
        <p:spPr>
          <a:xfrm>
            <a:off x="8366760" y="3474720"/>
            <a:ext cx="327355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2"/>
          <p:cNvSpPr txBox="1"/>
          <p:nvPr/>
        </p:nvSpPr>
        <p:spPr>
          <a:xfrm>
            <a:off x="8503920" y="3566160"/>
            <a:ext cx="29992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box plots look almost the same in all groups.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ANOVA: all p-values &gt; 0.05, so average profit does not differ significantly between groups.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findings</a:t>
            </a:r>
            <a:endParaRPr lang="en-US" sz="3000" dirty="0"/>
          </a:p>
        </p:txBody>
      </p:sp>
      <p:sp>
        <p:nvSpPr>
          <p:cNvPr id="3" name="finding 1"/>
          <p:cNvSpPr/>
          <p:nvPr/>
        </p:nvSpPr>
        <p:spPr>
          <a:xfrm>
            <a:off x="548640" y="118872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Clean data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698 records, 10 variables, no missing values, no duplicates, no outliers, the whole year 2023.</a:t>
            </a:r>
            <a:endParaRPr lang="en-US" sz="1500" dirty="0"/>
          </a:p>
        </p:txBody>
      </p:sp>
      <p:sp>
        <p:nvSpPr>
          <p:cNvPr id="5" name="finding 2"/>
          <p:cNvSpPr/>
          <p:nvPr/>
        </p:nvSpPr>
        <p:spPr>
          <a:xfrm>
            <a:off x="6233008" y="118872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 txBox="1"/>
          <p:nvPr/>
        </p:nvSpPr>
        <p:spPr>
          <a:xfrm>
            <a:off x="6370168" y="128016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Balanced categories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Regions, brands, products and product types have a similar number of records.</a:t>
            </a:r>
            <a:endParaRPr lang="en-US" sz="1500" dirty="0"/>
          </a:p>
        </p:txBody>
      </p:sp>
      <p:sp>
        <p:nvSpPr>
          <p:cNvPr id="7" name="finding 3"/>
          <p:cNvSpPr/>
          <p:nvPr/>
        </p:nvSpPr>
        <p:spPr>
          <a:xfrm>
            <a:off x="548640" y="251460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 txBox="1"/>
          <p:nvPr/>
        </p:nvSpPr>
        <p:spPr>
          <a:xfrm>
            <a:off x="685800" y="260604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Distributions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Sales, Profit, Units Sold and Discount are spread widely. Customer Rating is bell-shaped around 3.5–4.</a:t>
            </a:r>
            <a:endParaRPr lang="en-US" sz="1500" dirty="0"/>
          </a:p>
        </p:txBody>
      </p:sp>
      <p:sp>
        <p:nvSpPr>
          <p:cNvPr id="9" name="finding 4"/>
          <p:cNvSpPr/>
          <p:nvPr/>
        </p:nvSpPr>
        <p:spPr>
          <a:xfrm>
            <a:off x="6233008" y="251460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 txBox="1"/>
          <p:nvPr/>
        </p:nvSpPr>
        <p:spPr>
          <a:xfrm>
            <a:off x="6370168" y="260604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Volume drives profit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Sales, Profit and Units Sold are almost perfectly correlated (0.99). Margin is about 34% in every group.</a:t>
            </a:r>
            <a:endParaRPr lang="en-US" sz="1500" dirty="0"/>
          </a:p>
        </p:txBody>
      </p:sp>
      <p:sp>
        <p:nvSpPr>
          <p:cNvPr id="11" name="finding 5"/>
          <p:cNvSpPr/>
          <p:nvPr/>
        </p:nvSpPr>
        <p:spPr>
          <a:xfrm>
            <a:off x="548640" y="384048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 txBox="1"/>
          <p:nvPr/>
        </p:nvSpPr>
        <p:spPr>
          <a:xfrm>
            <a:off x="685800" y="393192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Rating matters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Higher customer ratings come with higher sales (correlation 0.78).</a:t>
            </a:r>
            <a:endParaRPr lang="en-US" sz="1500" dirty="0"/>
          </a:p>
        </p:txBody>
      </p:sp>
      <p:sp>
        <p:nvSpPr>
          <p:cNvPr id="13" name="finding 6"/>
          <p:cNvSpPr/>
          <p:nvPr/>
        </p:nvSpPr>
        <p:spPr>
          <a:xfrm>
            <a:off x="6233008" y="384048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 txBox="1"/>
          <p:nvPr/>
        </p:nvSpPr>
        <p:spPr>
          <a:xfrm>
            <a:off x="6370168" y="393192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Discount does not help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Discount has no link with sales or profit (correlation close to 0).</a:t>
            </a:r>
            <a:endParaRPr lang="en-US" sz="1500" dirty="0"/>
          </a:p>
        </p:txBody>
      </p:sp>
      <p:sp>
        <p:nvSpPr>
          <p:cNvPr id="15" name="finding 7"/>
          <p:cNvSpPr/>
          <p:nvPr/>
        </p:nvSpPr>
        <p:spPr>
          <a:xfrm>
            <a:off x="548640" y="516636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 txBox="1"/>
          <p:nvPr/>
        </p:nvSpPr>
        <p:spPr>
          <a:xfrm>
            <a:off x="685800" y="525780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Groups are similar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Totals differ mainly because of the number of records. Average profit is not significantly different (ANOVA p &gt; 0.05).</a:t>
            </a:r>
            <a:endParaRPr lang="en-US" sz="1500" dirty="0"/>
          </a:p>
        </p:txBody>
      </p:sp>
      <p:sp>
        <p:nvSpPr>
          <p:cNvPr id="17" name="finding 8"/>
          <p:cNvSpPr/>
          <p:nvPr/>
        </p:nvSpPr>
        <p:spPr>
          <a:xfrm>
            <a:off x="6233008" y="516636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 txBox="1"/>
          <p:nvPr/>
        </p:nvSpPr>
        <p:spPr>
          <a:xfrm>
            <a:off x="6370168" y="525780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Product mix and season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product mix does not depend on the region (chi-square p = 0.29). Sales are highest in May.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C7D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mework Teal">
  <a:themeElements>
    <a:clrScheme name="Homework Teal">
      <a:dk1>
        <a:srgbClr val="1F2A37"/>
      </a:dk1>
      <a:lt1>
        <a:srgbClr val="FFFFFF"/>
      </a:lt1>
      <a:dk2>
        <a:srgbClr val="0B4F6C"/>
      </a:dk2>
      <a:lt2>
        <a:srgbClr val="EAF2F5"/>
      </a:lt2>
      <a:accent1>
        <a:srgbClr val="0B4F6C"/>
      </a:accent1>
      <a:accent2>
        <a:srgbClr val="E07A1F"/>
      </a:accent2>
      <a:accent3>
        <a:srgbClr val="2E8B57"/>
      </a:accent3>
      <a:accent4>
        <a:srgbClr val="5B6C7D"/>
      </a:accent4>
      <a:accent5>
        <a:srgbClr val="8FB8CA"/>
      </a:accent5>
      <a:accent6>
        <a:srgbClr val="C94F4F"/>
      </a:accent6>
      <a:hlink>
        <a:srgbClr val="0B4F6C"/>
      </a:hlink>
      <a:folHlink>
        <a:srgbClr val="5B6C7D"/>
      </a:folHlink>
    </a:clrScheme>
    <a:fontScheme name="Homework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1087</Words>
  <Application>Microsoft Macintosh PowerPoint</Application>
  <PresentationFormat>Panoramiczny</PresentationFormat>
  <Paragraphs>351</Paragraphs>
  <Slides>16</Slides>
  <Notes>16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Homework Teal</vt:lpstr>
      <vt:lpstr>E-Commerce Store – Exploratory Data Analysis</vt:lpstr>
      <vt:lpstr>Dataset overview</vt:lpstr>
      <vt:lpstr>Descriptive statistics</vt:lpstr>
      <vt:lpstr>Distribution of numerical variables</vt:lpstr>
      <vt:lpstr>Box plots – no outliers</vt:lpstr>
      <vt:lpstr>Monthly sales in 2023</vt:lpstr>
      <vt:lpstr>Categorical variables – frequencies and percentages</vt:lpstr>
      <vt:lpstr>Categorical variables – bar charts</vt:lpstr>
      <vt:lpstr>Product type mix by region</vt:lpstr>
      <vt:lpstr>Total sales by group</vt:lpstr>
      <vt:lpstr>Total profit by group</vt:lpstr>
      <vt:lpstr>Average sales, profit and margin by group</vt:lpstr>
      <vt:lpstr>Correlation between numerical variables</vt:lpstr>
      <vt:lpstr>Relationships – scatter plots</vt:lpstr>
      <vt:lpstr>Profit by category – box plots and ANOVA</vt:lpstr>
      <vt:lpstr>Overall findings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Store – Exploratory Data Analysis</dc:title>
  <dc:subject>PptxGenJS Presentation</dc:subject>
  <dc:creator>Jakub Wojciechowski</dc:creator>
  <cp:lastModifiedBy>Jakub Wojciechowski</cp:lastModifiedBy>
  <cp:revision>1</cp:revision>
  <dcterms:created xsi:type="dcterms:W3CDTF">2026-10-04T20:49:16Z</dcterms:created>
  <dcterms:modified xsi:type="dcterms:W3CDTF">2026-10-07T23:16:52Z</dcterms:modified>
</cp:coreProperties>
</file>