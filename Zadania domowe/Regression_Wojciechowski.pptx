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e98f81e-a6f6-4b0f-86be-8c7d038f9066}">
          <p14:sldIdLst>
            <p14:sldId id="256"/>
            <p14:sldId id="257"/>
            <p14:sldId id="258"/>
          </p14:sldIdLst>
        </p14:section>
        <p14:section name="Model performance" id="{bebdaf48-afa2-1333-af06-94d29780e049}">
          <p14:sldIdLst>
            <p14:sldId id="259"/>
            <p14:sldId id="260"/>
          </p14:sldIdLst>
        </p14:section>
        <p14:section name="Teacher's experimental data" id="{6bbe51ba-7cc0-a6e7-4134-db1aee2686ce}">
          <p14:sldIdLst>
            <p14:sldId id="261"/>
            <p14:sldId id="262"/>
            <p14:sldId id="263"/>
          </p14:sldIdLst>
        </p14:section>
        <p14:section name="My experimental data" id="{9b2031c6-43e0-bbcd-2377-732700474471}">
          <p14:sldIdLst>
            <p14:sldId id="264"/>
            <p14:sldId id="265"/>
            <p14:sldId id="266"/>
            <p14:sldId id="267"/>
          </p14:sldIdLst>
        </p14:section>
        <p14:section name="Conclusion" id="{1b3df7f7-85c2-9529-c46f-bd5d88adc619}">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F6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749040"/>
            <a:ext cx="11094415"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4630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Profit Prediction Model – Testing on New Data</a:t>
            </a:r>
            <a:endParaRPr lang="en-US" sz="4000" dirty="0"/>
          </a:p>
        </p:txBody>
      </p:sp>
      <p:sp>
        <p:nvSpPr>
          <p:cNvPr id="3" name="Text 0"/>
          <p:cNvSpPr/>
          <p:nvPr>
            <p:ph idx="101" type="body" hasCustomPrompt="1"/>
          </p:nvPr>
        </p:nvSpPr>
        <p:spPr>
          <a:xfrm>
            <a:off x="548640" y="3749040"/>
            <a:ext cx="11094415" cy="1097280"/>
          </a:xfrm>
          <a:prstGeom prst="rect">
            <a:avLst/>
          </a:prstGeom>
          <a:noFill/>
          <a:ln/>
        </p:spPr>
        <p:txBody>
          <a:bodyPr wrap="square" rtlCol="0" anchor="t"/>
          <a:lstStyle/>
          <a:p>
            <a:pPr algn="l" indent="0" marL="0">
              <a:buNone/>
            </a:pPr>
            <a:r>
              <a:rPr lang="en-US" sz="1800" dirty="0">
                <a:solidFill>
                  <a:schemeClr val="bg2"/>
                </a:solidFill>
              </a:rPr>
              <a:t>Homework 2  ·  Jakub Wojciechowski  ·  Kozminski University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the model works</a:t>
            </a:r>
            <a:endParaRPr lang="en-US" sz="3000" dirty="0"/>
          </a:p>
        </p:txBody>
      </p:sp>
      <p:sp>
        <p:nvSpPr>
          <p:cNvPr id="3" name="step 1"/>
          <p:cNvSpPr/>
          <p:nvPr/>
        </p:nvSpPr>
        <p:spPr>
          <a:xfrm>
            <a:off x="548640" y="1645920"/>
            <a:ext cx="1658569" cy="2194560"/>
          </a:xfrm>
          <a:prstGeom prst="roundRect">
            <a:avLst>
              <a:gd name="adj" fmla="val 4411"/>
            </a:avLst>
          </a:prstGeom>
          <a:solidFill>
            <a:schemeClr val="accent1"/>
          </a:solidFill>
          <a:ln w="12700">
            <a:solidFill>
              <a:schemeClr val="accent1"/>
            </a:solidFill>
            <a:prstDash val="solid"/>
          </a:ln>
        </p:spPr>
      </p:sp>
      <p:sp>
        <p:nvSpPr>
          <p:cNvPr id="4" name="Text 2"/>
          <p:cNvSpPr txBox="1"/>
          <p:nvPr/>
        </p:nvSpPr>
        <p:spPr>
          <a:xfrm>
            <a:off x="658368" y="1737360"/>
            <a:ext cx="1439113" cy="2011680"/>
          </a:xfrm>
          <a:prstGeom prst="rect">
            <a:avLst/>
          </a:prstGeom>
          <a:noFill/>
          <a:ln/>
        </p:spPr>
        <p:txBody>
          <a:bodyPr wrap="square" lIns="0" tIns="0" rIns="0" bIns="0" rtlCol="0" anchor="ctr"/>
          <a:lstStyle/>
          <a:p>
            <a:pPr indent="0" marL="0">
              <a:buNone/>
            </a:pPr>
            <a:r>
              <a:rPr lang="en-US" sz="1600" b="1" dirty="0">
                <a:solidFill>
                  <a:schemeClr val="bg1"/>
                </a:solidFill>
              </a:rPr>
              <a:t>1. Data</a:t>
            </a:r>
            <a:endParaRPr lang="en-US" sz="1600" dirty="0"/>
          </a:p>
          <a:p>
            <a:pPr indent="0" marL="0">
              <a:buNone/>
            </a:pPr>
            <a:r>
              <a:rPr lang="en-US" sz="1400" dirty="0">
                <a:solidFill>
                  <a:schemeClr val="bg1"/>
                </a:solidFill>
              </a:rPr>
              <a:t>5,670 rows</a:t>
            </a:r>
            <a:endParaRPr lang="en-US" sz="1600" dirty="0"/>
          </a:p>
        </p:txBody>
      </p:sp>
      <p:sp>
        <p:nvSpPr>
          <p:cNvPr id="5" name="step 2"/>
          <p:cNvSpPr/>
          <p:nvPr/>
        </p:nvSpPr>
        <p:spPr>
          <a:xfrm>
            <a:off x="2435809" y="1645920"/>
            <a:ext cx="1658569" cy="2194560"/>
          </a:xfrm>
          <a:prstGeom prst="roundRect">
            <a:avLst>
              <a:gd name="adj" fmla="val 4411"/>
            </a:avLst>
          </a:prstGeom>
          <a:solidFill>
            <a:schemeClr val="bg2"/>
          </a:solidFill>
          <a:ln w="12700">
            <a:solidFill>
              <a:schemeClr val="bg2"/>
            </a:solidFill>
            <a:prstDash val="solid"/>
          </a:ln>
        </p:spPr>
      </p:sp>
      <p:sp>
        <p:nvSpPr>
          <p:cNvPr id="6" name="Text 4"/>
          <p:cNvSpPr txBox="1"/>
          <p:nvPr/>
        </p:nvSpPr>
        <p:spPr>
          <a:xfrm>
            <a:off x="2545537" y="1737360"/>
            <a:ext cx="1439113" cy="2011680"/>
          </a:xfrm>
          <a:prstGeom prst="rect">
            <a:avLst/>
          </a:prstGeom>
          <a:noFill/>
          <a:ln/>
        </p:spPr>
        <p:txBody>
          <a:bodyPr wrap="square" lIns="0" tIns="0" rIns="0" bIns="0" rtlCol="0" anchor="ctr"/>
          <a:lstStyle/>
          <a:p>
            <a:pPr indent="0" marL="0">
              <a:buNone/>
            </a:pPr>
            <a:r>
              <a:rPr lang="en-US" sz="1600" b="1" dirty="0">
                <a:solidFill>
                  <a:schemeClr val="accent1"/>
                </a:solidFill>
              </a:rPr>
              <a:t>2. Features (X)</a:t>
            </a:r>
            <a:endParaRPr lang="en-US" sz="1600" dirty="0"/>
          </a:p>
          <a:p>
            <a:pPr indent="0" marL="0">
              <a:buNone/>
            </a:pPr>
            <a:r>
              <a:rPr lang="en-US" sz="1400" dirty="0">
                <a:solidFill>
                  <a:schemeClr val="tx1"/>
                </a:solidFill>
              </a:rPr>
              <a:t>Sales, Units Sold, Discount (%), Customer Rating</a:t>
            </a:r>
            <a:endParaRPr lang="en-US" sz="1600" dirty="0"/>
          </a:p>
        </p:txBody>
      </p:sp>
      <p:sp>
        <p:nvSpPr>
          <p:cNvPr id="7" name="step 3"/>
          <p:cNvSpPr/>
          <p:nvPr/>
        </p:nvSpPr>
        <p:spPr>
          <a:xfrm>
            <a:off x="4322978" y="1645920"/>
            <a:ext cx="1658569" cy="2194560"/>
          </a:xfrm>
          <a:prstGeom prst="roundRect">
            <a:avLst>
              <a:gd name="adj" fmla="val 4411"/>
            </a:avLst>
          </a:prstGeom>
          <a:solidFill>
            <a:schemeClr val="accent1"/>
          </a:solidFill>
          <a:ln w="12700">
            <a:solidFill>
              <a:schemeClr val="accent1"/>
            </a:solidFill>
            <a:prstDash val="solid"/>
          </a:ln>
        </p:spPr>
      </p:sp>
      <p:sp>
        <p:nvSpPr>
          <p:cNvPr id="8" name="Text 6"/>
          <p:cNvSpPr txBox="1"/>
          <p:nvPr/>
        </p:nvSpPr>
        <p:spPr>
          <a:xfrm>
            <a:off x="4432706" y="1737360"/>
            <a:ext cx="1439113" cy="2011680"/>
          </a:xfrm>
          <a:prstGeom prst="rect">
            <a:avLst/>
          </a:prstGeom>
          <a:noFill/>
          <a:ln/>
        </p:spPr>
        <p:txBody>
          <a:bodyPr wrap="square" lIns="0" tIns="0" rIns="0" bIns="0" rtlCol="0" anchor="ctr"/>
          <a:lstStyle/>
          <a:p>
            <a:pPr indent="0" marL="0">
              <a:buNone/>
            </a:pPr>
            <a:r>
              <a:rPr lang="en-US" sz="1600" b="1" dirty="0">
                <a:solidFill>
                  <a:schemeClr val="bg1"/>
                </a:solidFill>
              </a:rPr>
              <a:t>3. Target (y)</a:t>
            </a:r>
            <a:endParaRPr lang="en-US" sz="1600" dirty="0"/>
          </a:p>
          <a:p>
            <a:pPr indent="0" marL="0">
              <a:buNone/>
            </a:pPr>
            <a:r>
              <a:rPr lang="en-US" sz="1400" dirty="0">
                <a:solidFill>
                  <a:schemeClr val="bg1"/>
                </a:solidFill>
              </a:rPr>
              <a:t>Profit</a:t>
            </a:r>
            <a:endParaRPr lang="en-US" sz="1600" dirty="0"/>
          </a:p>
        </p:txBody>
      </p:sp>
      <p:sp>
        <p:nvSpPr>
          <p:cNvPr id="9" name="step 4"/>
          <p:cNvSpPr/>
          <p:nvPr/>
        </p:nvSpPr>
        <p:spPr>
          <a:xfrm>
            <a:off x="6210148" y="1645920"/>
            <a:ext cx="1658569" cy="2194560"/>
          </a:xfrm>
          <a:prstGeom prst="roundRect">
            <a:avLst>
              <a:gd name="adj" fmla="val 4411"/>
            </a:avLst>
          </a:prstGeom>
          <a:solidFill>
            <a:schemeClr val="bg2"/>
          </a:solidFill>
          <a:ln w="12700">
            <a:solidFill>
              <a:schemeClr val="bg2"/>
            </a:solidFill>
            <a:prstDash val="solid"/>
          </a:ln>
        </p:spPr>
      </p:sp>
      <p:sp>
        <p:nvSpPr>
          <p:cNvPr id="10" name="Text 8"/>
          <p:cNvSpPr txBox="1"/>
          <p:nvPr/>
        </p:nvSpPr>
        <p:spPr>
          <a:xfrm>
            <a:off x="6319876" y="1737360"/>
            <a:ext cx="1439113" cy="2011680"/>
          </a:xfrm>
          <a:prstGeom prst="rect">
            <a:avLst/>
          </a:prstGeom>
          <a:noFill/>
          <a:ln/>
        </p:spPr>
        <p:txBody>
          <a:bodyPr wrap="square" lIns="0" tIns="0" rIns="0" bIns="0" rtlCol="0" anchor="ctr"/>
          <a:lstStyle/>
          <a:p>
            <a:pPr indent="0" marL="0">
              <a:buNone/>
            </a:pPr>
            <a:r>
              <a:rPr lang="en-US" sz="1600" b="1" dirty="0">
                <a:solidFill>
                  <a:schemeClr val="accent1"/>
                </a:solidFill>
              </a:rPr>
              <a:t>4. Split</a:t>
            </a:r>
            <a:endParaRPr lang="en-US" sz="1600" dirty="0"/>
          </a:p>
          <a:p>
            <a:pPr indent="0" marL="0">
              <a:buNone/>
            </a:pPr>
            <a:r>
              <a:rPr lang="en-US" sz="1400" dirty="0">
                <a:solidFill>
                  <a:schemeClr val="tx1"/>
                </a:solidFill>
              </a:rPr>
              <a:t>Train 4,536 · Validation 567 · Test 567</a:t>
            </a:r>
            <a:endParaRPr lang="en-US" sz="1600" dirty="0"/>
          </a:p>
        </p:txBody>
      </p:sp>
      <p:sp>
        <p:nvSpPr>
          <p:cNvPr id="11" name="step 5"/>
          <p:cNvSpPr/>
          <p:nvPr/>
        </p:nvSpPr>
        <p:spPr>
          <a:xfrm>
            <a:off x="8097317" y="1645920"/>
            <a:ext cx="1658569" cy="2194560"/>
          </a:xfrm>
          <a:prstGeom prst="roundRect">
            <a:avLst>
              <a:gd name="adj" fmla="val 4411"/>
            </a:avLst>
          </a:prstGeom>
          <a:solidFill>
            <a:schemeClr val="accent1"/>
          </a:solidFill>
          <a:ln w="12700">
            <a:solidFill>
              <a:schemeClr val="accent1"/>
            </a:solidFill>
            <a:prstDash val="solid"/>
          </a:ln>
        </p:spPr>
      </p:sp>
      <p:sp>
        <p:nvSpPr>
          <p:cNvPr id="12" name="Text 10"/>
          <p:cNvSpPr txBox="1"/>
          <p:nvPr/>
        </p:nvSpPr>
        <p:spPr>
          <a:xfrm>
            <a:off x="8207045" y="1737360"/>
            <a:ext cx="1439113" cy="2011680"/>
          </a:xfrm>
          <a:prstGeom prst="rect">
            <a:avLst/>
          </a:prstGeom>
          <a:noFill/>
          <a:ln/>
        </p:spPr>
        <p:txBody>
          <a:bodyPr wrap="square" lIns="0" tIns="0" rIns="0" bIns="0" rtlCol="0" anchor="ctr"/>
          <a:lstStyle/>
          <a:p>
            <a:pPr indent="0" marL="0">
              <a:buNone/>
            </a:pPr>
            <a:r>
              <a:rPr lang="en-US" sz="1600" b="1" dirty="0">
                <a:solidFill>
                  <a:schemeClr val="bg1"/>
                </a:solidFill>
              </a:rPr>
              <a:t>5. Scaling</a:t>
            </a:r>
            <a:endParaRPr lang="en-US" sz="1600" dirty="0"/>
          </a:p>
          <a:p>
            <a:pPr indent="0" marL="0">
              <a:buNone/>
            </a:pPr>
            <a:r>
              <a:rPr lang="en-US" sz="1400" dirty="0">
                <a:solidFill>
                  <a:schemeClr val="bg1"/>
                </a:solidFill>
              </a:rPr>
              <a:t>StandardScaler (mean 0, std 1)</a:t>
            </a:r>
            <a:endParaRPr lang="en-US" sz="1600" dirty="0"/>
          </a:p>
        </p:txBody>
      </p:sp>
      <p:sp>
        <p:nvSpPr>
          <p:cNvPr id="13" name="step 6"/>
          <p:cNvSpPr/>
          <p:nvPr/>
        </p:nvSpPr>
        <p:spPr>
          <a:xfrm>
            <a:off x="9984486" y="1645920"/>
            <a:ext cx="1658569" cy="2194560"/>
          </a:xfrm>
          <a:prstGeom prst="roundRect">
            <a:avLst>
              <a:gd name="adj" fmla="val 4411"/>
            </a:avLst>
          </a:prstGeom>
          <a:solidFill>
            <a:schemeClr val="bg2"/>
          </a:solidFill>
          <a:ln w="12700">
            <a:solidFill>
              <a:schemeClr val="bg2"/>
            </a:solidFill>
            <a:prstDash val="solid"/>
          </a:ln>
        </p:spPr>
      </p:sp>
      <p:sp>
        <p:nvSpPr>
          <p:cNvPr id="14" name="Text 12"/>
          <p:cNvSpPr txBox="1"/>
          <p:nvPr/>
        </p:nvSpPr>
        <p:spPr>
          <a:xfrm>
            <a:off x="10094214" y="1737360"/>
            <a:ext cx="1439113" cy="2011680"/>
          </a:xfrm>
          <a:prstGeom prst="rect">
            <a:avLst/>
          </a:prstGeom>
          <a:noFill/>
          <a:ln/>
        </p:spPr>
        <p:txBody>
          <a:bodyPr wrap="square" lIns="0" tIns="0" rIns="0" bIns="0" rtlCol="0" anchor="ctr"/>
          <a:lstStyle/>
          <a:p>
            <a:pPr indent="0" marL="0">
              <a:buNone/>
            </a:pPr>
            <a:r>
              <a:rPr lang="en-US" sz="1600" b="1" dirty="0">
                <a:solidFill>
                  <a:schemeClr val="accent1"/>
                </a:solidFill>
              </a:rPr>
              <a:t>6. Model</a:t>
            </a:r>
            <a:endParaRPr lang="en-US" sz="1600" dirty="0"/>
          </a:p>
          <a:p>
            <a:pPr indent="0" marL="0">
              <a:buNone/>
            </a:pPr>
            <a:r>
              <a:rPr lang="en-US" sz="1400" dirty="0">
                <a:solidFill>
                  <a:schemeClr val="tx1"/>
                </a:solidFill>
              </a:rPr>
              <a:t>Linear Regression, 3-fold cross-validation</a:t>
            </a:r>
            <a:endParaRPr lang="en-US" sz="1600" dirty="0"/>
          </a:p>
        </p:txBody>
      </p:sp>
      <p:sp>
        <p:nvSpPr>
          <p:cNvPr id="15" name="card"/>
          <p:cNvSpPr/>
          <p:nvPr/>
        </p:nvSpPr>
        <p:spPr>
          <a:xfrm>
            <a:off x="548640" y="4297680"/>
            <a:ext cx="11094415" cy="1097280"/>
          </a:xfrm>
          <a:prstGeom prst="roundRect">
            <a:avLst>
              <a:gd name="adj" fmla="val 6667"/>
            </a:avLst>
          </a:prstGeom>
          <a:solidFill>
            <a:schemeClr val="bg2"/>
          </a:solidFill>
          <a:ln w="12700">
            <a:solidFill>
              <a:schemeClr val="bg2"/>
            </a:solidFill>
            <a:prstDash val="solid"/>
          </a:ln>
        </p:spPr>
      </p:sp>
      <p:sp>
        <p:nvSpPr>
          <p:cNvPr id="16" name="Text 14"/>
          <p:cNvSpPr txBox="1"/>
          <p:nvPr/>
        </p:nvSpPr>
        <p:spPr>
          <a:xfrm>
            <a:off x="685800" y="4389120"/>
            <a:ext cx="10820095" cy="914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trained model and scaler are saved (profit_prediction_model.pkl, feature_scaler.pkl) and then loaded to test them on new data.</a:t>
            </a:r>
            <a:endParaRPr lang="en-US" sz="1500" dirty="0"/>
          </a:p>
          <a:p>
            <a:pPr marL="342900" indent="-342900">
              <a:spcAft>
                <a:spcPts val="600"/>
              </a:spcAft>
              <a:buSzPct val="100000"/>
              <a:buChar char="•"/>
            </a:pPr>
            <a:r>
              <a:rPr lang="en-US" sz="1500" dirty="0">
                <a:solidFill>
                  <a:schemeClr val="tx1"/>
                </a:solidFill>
              </a:rPr>
              <a:t>Task: (1) test the model on the teacher's experimental data, (2) create my own experimental data similar to the training data and test the model on it.</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Training data and training progress</a:t>
            </a:r>
            <a:endParaRPr lang="en-US" sz="3000" dirty="0"/>
          </a:p>
        </p:txBody>
      </p:sp>
      <p:pic>
        <p:nvPicPr>
          <p:cNvPr id="3" name="reg_c11_0.png" descr="charts/reg_c11_0.png">    </p:cNvPr>
          <p:cNvPicPr>
            <a:picLocks noChangeAspect="1"/>
          </p:cNvPicPr>
          <p:nvPr/>
        </p:nvPicPr>
        <p:blipFill>
          <a:blip r:embed="rId1"/>
          <a:stretch>
            <a:fillRect/>
          </a:stretch>
        </p:blipFill>
        <p:spPr>
          <a:xfrm>
            <a:off x="548640" y="1732742"/>
            <a:ext cx="6766560" cy="4032596"/>
          </a:xfrm>
          <a:prstGeom prst="rect">
            <a:avLst/>
          </a:prstGeom>
        </p:spPr>
      </p:pic>
      <p:sp>
        <p:nvSpPr>
          <p:cNvPr id="4" name="card"/>
          <p:cNvSpPr/>
          <p:nvPr/>
        </p:nvSpPr>
        <p:spPr>
          <a:xfrm>
            <a:off x="7589520" y="1280160"/>
            <a:ext cx="4050792" cy="4937760"/>
          </a:xfrm>
          <a:prstGeom prst="roundRect">
            <a:avLst>
              <a:gd name="adj" fmla="val 1806"/>
            </a:avLst>
          </a:prstGeom>
          <a:solidFill>
            <a:schemeClr val="bg2"/>
          </a:solidFill>
          <a:ln w="12700">
            <a:solidFill>
              <a:schemeClr val="bg2"/>
            </a:solidFill>
            <a:prstDash val="solid"/>
          </a:ln>
        </p:spPr>
      </p:sp>
      <p:sp>
        <p:nvSpPr>
          <p:cNvPr id="5" name="Text 2"/>
          <p:cNvSpPr txBox="1"/>
          <p:nvPr/>
        </p:nvSpPr>
        <p:spPr>
          <a:xfrm>
            <a:off x="7726680" y="1371600"/>
            <a:ext cx="3776472" cy="475488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is not trained on e_commerce_store.csv. The notebook replaces it with synthetic data: 670 generated rows + 5,000 rows generated from their mean and std.</a:t>
            </a:r>
            <a:endParaRPr lang="en-US" sz="1500" dirty="0"/>
          </a:p>
          <a:p>
            <a:pPr marL="342900" indent="-342900">
              <a:spcAft>
                <a:spcPts val="600"/>
              </a:spcAft>
              <a:buSzPct val="100000"/>
              <a:buChar char="•"/>
            </a:pPr>
            <a:r>
              <a:rPr lang="en-US" sz="1500" dirty="0">
                <a:solidFill>
                  <a:schemeClr val="tx1"/>
                </a:solidFill>
              </a:rPr>
              <a:t>In this data Profit = 0.3 × Sales + random noise.</a:t>
            </a:r>
            <a:endParaRPr lang="en-US" sz="1500" dirty="0"/>
          </a:p>
          <a:p>
            <a:pPr marL="342900" indent="-342900">
              <a:spcAft>
                <a:spcPts val="600"/>
              </a:spcAft>
              <a:buSzPct val="100000"/>
              <a:buChar char="•"/>
            </a:pPr>
            <a:r>
              <a:rPr lang="en-US" sz="1500" dirty="0">
                <a:solidFill>
                  <a:schemeClr val="tx1"/>
                </a:solidFill>
              </a:rPr>
              <a:t>Cross-validation RMSE is the same in all 10 epochs (train folds 975.76, validation folds 977.04), because linear regression always gives the same result on the same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Model performance on validation and test sets</a:t>
            </a:r>
            <a:endParaRPr lang="en-US" sz="30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5120640" cy="914400"/>
        </p:xfrm>
        <a:graphic>
          <a:graphicData uri="http://schemas.openxmlformats.org/drawingml/2006/table">
            <a:tbl>
              <a:tblPr/>
              <a:tblGrid>
                <a:gridCol w="1280160"/>
                <a:gridCol w="1005840"/>
                <a:gridCol w="1005840"/>
                <a:gridCol w="822960"/>
                <a:gridCol w="1005840"/>
              </a:tblGrid>
              <a:tr h="502920">
                <a:tc>
                  <a:txBody>
                    <a:bodyPr/>
                    <a:lstStyle/>
                    <a:p>
                      <a:pPr algn="l" indent="0" marL="0">
                        <a:buNone/>
                      </a:pPr>
                      <a:r>
                        <a:rPr lang="en-US" sz="1500" b="1" dirty="0">
                          <a:solidFill>
                            <a:srgbClr val="FFFFFF"/>
                          </a:solidFill>
                        </a:rPr>
                        <a:t>Set</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RMSE</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MAE</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R²</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MAPE</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r>
              <a:tr h="502920">
                <a:tc>
                  <a:txBody>
                    <a:bodyPr/>
                    <a:lstStyle/>
                    <a:p>
                      <a:pPr algn="l" indent="0" marL="0">
                        <a:buNone/>
                      </a:pPr>
                      <a:r>
                        <a:rPr lang="en-US" sz="1500" b="1" dirty="0">
                          <a:solidFill>
                            <a:srgbClr val="1F2A37"/>
                          </a:solidFill>
                        </a:rPr>
                        <a:t>Validation</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993.22</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796.92</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0.958</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1F2A37"/>
                          </a:solidFill>
                        </a:rPr>
                        <a:t>Test</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1,024.87</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823.45</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0.950</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7.43%</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bl>
          </a:graphicData>
        </a:graphic>
      </p:graphicFrame>
      <p:sp>
        <p:nvSpPr>
          <p:cNvPr id="4" name="card"/>
          <p:cNvSpPr/>
          <p:nvPr/>
        </p:nvSpPr>
        <p:spPr>
          <a:xfrm>
            <a:off x="548640" y="3017520"/>
            <a:ext cx="5120640" cy="2468880"/>
          </a:xfrm>
          <a:prstGeom prst="roundRect">
            <a:avLst>
              <a:gd name="adj" fmla="val 2963"/>
            </a:avLst>
          </a:prstGeom>
          <a:solidFill>
            <a:schemeClr val="bg2"/>
          </a:solidFill>
          <a:ln w="12700">
            <a:solidFill>
              <a:schemeClr val="bg2"/>
            </a:solidFill>
            <a:prstDash val="solid"/>
          </a:ln>
        </p:spPr>
      </p:sp>
      <p:sp>
        <p:nvSpPr>
          <p:cNvPr id="5" name="Text 2"/>
          <p:cNvSpPr txBox="1"/>
          <p:nvPr/>
        </p:nvSpPr>
        <p:spPr>
          <a:xfrm>
            <a:off x="685800" y="3108960"/>
            <a:ext cx="4846320" cy="2286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explains about 95% of the variation in Profit (R² 0.950 on the test set).</a:t>
            </a:r>
            <a:endParaRPr lang="en-US" sz="1500" dirty="0"/>
          </a:p>
          <a:p>
            <a:pPr marL="342900" indent="-342900">
              <a:spcAft>
                <a:spcPts val="600"/>
              </a:spcAft>
              <a:buSzPct val="100000"/>
              <a:buChar char="•"/>
            </a:pPr>
            <a:r>
              <a:rPr lang="en-US" sz="1500" dirty="0">
                <a:solidFill>
                  <a:schemeClr val="tx1"/>
                </a:solidFill>
              </a:rPr>
              <a:t>Validation and test results are almost the same – no overfitting.</a:t>
            </a:r>
            <a:endParaRPr lang="en-US" sz="1500" dirty="0"/>
          </a:p>
        </p:txBody>
      </p:sp>
      <p:pic>
        <p:nvPicPr>
          <p:cNvPr id="6" name="reg_c12_0.png" descr="charts/reg_c12_0.png">    </p:cNvPr>
          <p:cNvPicPr>
            <a:picLocks noChangeAspect="1"/>
          </p:cNvPicPr>
          <p:nvPr/>
        </p:nvPicPr>
        <p:blipFill>
          <a:blip r:embed="rId1"/>
          <a:stretch>
            <a:fillRect/>
          </a:stretch>
        </p:blipFill>
        <p:spPr>
          <a:xfrm>
            <a:off x="5943600" y="2074395"/>
            <a:ext cx="5696712" cy="339501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Prediction errors on the validation set</a:t>
            </a:r>
            <a:endParaRPr lang="en-US" sz="3000" dirty="0"/>
          </a:p>
        </p:txBody>
      </p:sp>
      <p:pic>
        <p:nvPicPr>
          <p:cNvPr id="3" name="reg_c12_1.png" descr="charts/reg_c12_1.png">    </p:cNvPr>
          <p:cNvPicPr>
            <a:picLocks noChangeAspect="1"/>
          </p:cNvPicPr>
          <p:nvPr/>
        </p:nvPicPr>
        <p:blipFill>
          <a:blip r:embed="rId1"/>
          <a:stretch>
            <a:fillRect/>
          </a:stretch>
        </p:blipFill>
        <p:spPr>
          <a:xfrm>
            <a:off x="548640" y="1634035"/>
            <a:ext cx="5410048" cy="3224170"/>
          </a:xfrm>
          <a:prstGeom prst="rect">
            <a:avLst/>
          </a:prstGeom>
        </p:spPr>
      </p:pic>
      <p:pic>
        <p:nvPicPr>
          <p:cNvPr id="4" name="reg_c12_2.png" descr="charts/reg_c12_2.png">    </p:cNvPr>
          <p:cNvPicPr>
            <a:picLocks noChangeAspect="1"/>
          </p:cNvPicPr>
          <p:nvPr/>
        </p:nvPicPr>
        <p:blipFill>
          <a:blip r:embed="rId2"/>
          <a:stretch>
            <a:fillRect/>
          </a:stretch>
        </p:blipFill>
        <p:spPr>
          <a:xfrm>
            <a:off x="6233008" y="1634035"/>
            <a:ext cx="5410048" cy="3224170"/>
          </a:xfrm>
          <a:prstGeom prst="rect">
            <a:avLst/>
          </a:prstGeom>
        </p:spPr>
      </p:pic>
      <p:sp>
        <p:nvSpPr>
          <p:cNvPr id="5" name="Text 1"/>
          <p:cNvSpPr txBox="1"/>
          <p:nvPr/>
        </p:nvSpPr>
        <p:spPr>
          <a:xfrm>
            <a:off x="548640" y="5577840"/>
            <a:ext cx="11094415" cy="548640"/>
          </a:xfrm>
          <a:prstGeom prst="rect">
            <a:avLst/>
          </a:prstGeom>
          <a:noFill/>
          <a:ln/>
        </p:spPr>
        <p:txBody>
          <a:bodyPr wrap="square" lIns="0" tIns="0" rIns="0" bIns="0" rtlCol="0" anchor="ctr"/>
          <a:lstStyle/>
          <a:p>
            <a:pPr indent="0" marL="0">
              <a:buNone/>
            </a:pPr>
            <a:r>
              <a:rPr lang="en-US" sz="1500" dirty="0">
                <a:solidFill>
                  <a:schemeClr val="tx1"/>
                </a:solidFill>
              </a:rPr>
              <a:t>The errors are spread randomly around 0 and have a bell-shaped distribution – the model has no systematic error.</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Teacher's experimental data (100 days)</a:t>
            </a:r>
            <a:endParaRPr lang="en-US" sz="3000" dirty="0"/>
          </a:p>
        </p:txBody>
      </p:sp>
      <p:pic>
        <p:nvPicPr>
          <p:cNvPr id="3" name="reg_c19_0.png" descr="charts/reg_c19_0.png">    </p:cNvPr>
          <p:cNvPicPr>
            <a:picLocks noChangeAspect="1"/>
          </p:cNvPicPr>
          <p:nvPr/>
        </p:nvPicPr>
        <p:blipFill>
          <a:blip r:embed="rId1"/>
          <a:stretch>
            <a:fillRect/>
          </a:stretch>
        </p:blipFill>
        <p:spPr>
          <a:xfrm>
            <a:off x="548640" y="1253403"/>
            <a:ext cx="7223760" cy="3345355"/>
          </a:xfrm>
          <a:prstGeom prst="rect">
            <a:avLst/>
          </a:prstGeom>
        </p:spPr>
      </p:pic>
      <p:sp>
        <p:nvSpPr>
          <p:cNvPr id="4" name="stat RMSE"/>
          <p:cNvSpPr/>
          <p:nvPr/>
        </p:nvSpPr>
        <p:spPr>
          <a:xfrm>
            <a:off x="8046720" y="1143000"/>
            <a:ext cx="3593592"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8046720" y="1252728"/>
            <a:ext cx="3593592"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1,069.50</a:t>
            </a:r>
            <a:endParaRPr lang="en-US" sz="3600" dirty="0"/>
          </a:p>
        </p:txBody>
      </p:sp>
      <p:sp>
        <p:nvSpPr>
          <p:cNvPr id="6" name="Text 3"/>
          <p:cNvSpPr txBox="1"/>
          <p:nvPr/>
        </p:nvSpPr>
        <p:spPr>
          <a:xfrm>
            <a:off x="8046720" y="1984248"/>
            <a:ext cx="3593592" cy="411480"/>
          </a:xfrm>
          <a:prstGeom prst="rect">
            <a:avLst/>
          </a:prstGeom>
          <a:noFill/>
          <a:ln/>
        </p:spPr>
        <p:txBody>
          <a:bodyPr wrap="square" rtlCol="0" anchor="t"/>
          <a:lstStyle/>
          <a:p>
            <a:pPr algn="ctr" indent="0" marL="0">
              <a:buNone/>
            </a:pPr>
            <a:r>
              <a:rPr lang="en-US" sz="1300" dirty="0">
                <a:solidFill>
                  <a:schemeClr val="tx1"/>
                </a:solidFill>
              </a:rPr>
              <a:t>RMSE</a:t>
            </a:r>
            <a:endParaRPr lang="en-US" sz="1300" dirty="0"/>
          </a:p>
        </p:txBody>
      </p:sp>
      <p:sp>
        <p:nvSpPr>
          <p:cNvPr id="7" name="stat MAE"/>
          <p:cNvSpPr/>
          <p:nvPr/>
        </p:nvSpPr>
        <p:spPr>
          <a:xfrm>
            <a:off x="8046720" y="2651760"/>
            <a:ext cx="3593592" cy="1371600"/>
          </a:xfrm>
          <a:prstGeom prst="roundRect">
            <a:avLst>
              <a:gd name="adj" fmla="val 5333"/>
            </a:avLst>
          </a:prstGeom>
          <a:solidFill>
            <a:schemeClr val="bg2"/>
          </a:solidFill>
          <a:ln w="12700">
            <a:solidFill>
              <a:schemeClr val="bg2"/>
            </a:solidFill>
            <a:prstDash val="solid"/>
          </a:ln>
        </p:spPr>
      </p:sp>
      <p:sp>
        <p:nvSpPr>
          <p:cNvPr id="8" name="Text 5"/>
          <p:cNvSpPr txBox="1"/>
          <p:nvPr/>
        </p:nvSpPr>
        <p:spPr>
          <a:xfrm>
            <a:off x="8046720" y="2761488"/>
            <a:ext cx="3593592"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864.85</a:t>
            </a:r>
            <a:endParaRPr lang="en-US" sz="3600" dirty="0"/>
          </a:p>
        </p:txBody>
      </p:sp>
      <p:sp>
        <p:nvSpPr>
          <p:cNvPr id="9" name="Text 6"/>
          <p:cNvSpPr txBox="1"/>
          <p:nvPr/>
        </p:nvSpPr>
        <p:spPr>
          <a:xfrm>
            <a:off x="8046720" y="3493008"/>
            <a:ext cx="3593592" cy="411480"/>
          </a:xfrm>
          <a:prstGeom prst="rect">
            <a:avLst/>
          </a:prstGeom>
          <a:noFill/>
          <a:ln/>
        </p:spPr>
        <p:txBody>
          <a:bodyPr wrap="square" rtlCol="0" anchor="t"/>
          <a:lstStyle/>
          <a:p>
            <a:pPr algn="ctr" indent="0" marL="0">
              <a:buNone/>
            </a:pPr>
            <a:r>
              <a:rPr lang="en-US" sz="1300" dirty="0">
                <a:solidFill>
                  <a:schemeClr val="tx1"/>
                </a:solidFill>
              </a:rPr>
              <a:t>MAE</a:t>
            </a:r>
            <a:endParaRPr lang="en-US" sz="1300" dirty="0"/>
          </a:p>
        </p:txBody>
      </p:sp>
      <p:sp>
        <p:nvSpPr>
          <p:cNvPr id="10" name="stat R²"/>
          <p:cNvSpPr/>
          <p:nvPr/>
        </p:nvSpPr>
        <p:spPr>
          <a:xfrm>
            <a:off x="8046720" y="4160520"/>
            <a:ext cx="3593592" cy="13716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8046720" y="4270248"/>
            <a:ext cx="3593592"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0.851</a:t>
            </a:r>
            <a:endParaRPr lang="en-US" sz="3600" dirty="0"/>
          </a:p>
        </p:txBody>
      </p:sp>
      <p:sp>
        <p:nvSpPr>
          <p:cNvPr id="12" name="Text 9"/>
          <p:cNvSpPr txBox="1"/>
          <p:nvPr/>
        </p:nvSpPr>
        <p:spPr>
          <a:xfrm>
            <a:off x="8046720" y="5001768"/>
            <a:ext cx="3593592" cy="411480"/>
          </a:xfrm>
          <a:prstGeom prst="rect">
            <a:avLst/>
          </a:prstGeom>
          <a:noFill/>
          <a:ln/>
        </p:spPr>
        <p:txBody>
          <a:bodyPr wrap="square" rtlCol="0" anchor="t"/>
          <a:lstStyle/>
          <a:p>
            <a:pPr algn="ctr" indent="0" marL="0">
              <a:buNone/>
            </a:pPr>
            <a:r>
              <a:rPr lang="en-US" sz="1300" dirty="0">
                <a:solidFill>
                  <a:schemeClr val="tx1"/>
                </a:solidFill>
              </a:rPr>
              <a:t>R²</a:t>
            </a:r>
            <a:endParaRPr lang="en-US" sz="1300" dirty="0"/>
          </a:p>
        </p:txBody>
      </p:sp>
      <p:sp>
        <p:nvSpPr>
          <p:cNvPr id="13" name="card"/>
          <p:cNvSpPr/>
          <p:nvPr/>
        </p:nvSpPr>
        <p:spPr>
          <a:xfrm>
            <a:off x="548640" y="4937760"/>
            <a:ext cx="7223760" cy="1280160"/>
          </a:xfrm>
          <a:prstGeom prst="roundRect">
            <a:avLst>
              <a:gd name="adj" fmla="val 5714"/>
            </a:avLst>
          </a:prstGeom>
          <a:solidFill>
            <a:schemeClr val="bg2"/>
          </a:solidFill>
          <a:ln w="12700">
            <a:solidFill>
              <a:schemeClr val="bg2"/>
            </a:solidFill>
            <a:prstDash val="solid"/>
          </a:ln>
        </p:spPr>
      </p:sp>
      <p:sp>
        <p:nvSpPr>
          <p:cNvPr id="14" name="Text 11"/>
          <p:cNvSpPr txBox="1"/>
          <p:nvPr/>
        </p:nvSpPr>
        <p:spPr>
          <a:xfrm>
            <a:off x="685800" y="5029200"/>
            <a:ext cx="6949440" cy="1097280"/>
          </a:xfrm>
          <a:prstGeom prst="rect">
            <a:avLst/>
          </a:prstGeom>
          <a:noFill/>
          <a:ln/>
        </p:spPr>
        <p:txBody>
          <a:bodyPr wrap="square" lIns="0" tIns="0" rIns="0" bIns="0" rtlCol="0" anchor="ctr"/>
          <a:lstStyle/>
          <a:p>
            <a:pPr indent="0" marL="0">
              <a:spcAft>
                <a:spcPts val="600"/>
              </a:spcAft>
              <a:buNone/>
            </a:pPr>
            <a:r>
              <a:rPr lang="en-US" sz="1500" dirty="0">
                <a:solidFill>
                  <a:schemeClr val="tx1"/>
                </a:solidFill>
              </a:rPr>
              <a:t>The error is almost the same as on the test set (RMSE 1,069.50 vs 1,024.87), so the model works well on this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Teacher's data vs model data</a:t>
            </a:r>
            <a:endParaRPr lang="en-US" sz="30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313432"/>
                <a:gridCol w="2194560"/>
                <a:gridCol w="2194560"/>
                <a:gridCol w="2194560"/>
                <a:gridCol w="2194560"/>
              </a:tblGrid>
              <a:tr h="566928">
                <a:tc>
                  <a:txBody>
                    <a:bodyPr/>
                    <a:lstStyle/>
                    <a:p>
                      <a:pPr algn="l" indent="0" marL="0">
                        <a:buNone/>
                      </a:pPr>
                      <a:r>
                        <a:rPr lang="en-US" sz="1600" b="1" dirty="0">
                          <a:solidFill>
                            <a:srgbClr val="FFFFFF"/>
                          </a:solidFill>
                        </a:rPr>
                        <a:t>Variable</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Model data mean</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Teacher mean</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Model data std</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Teacher std</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r>
              <a:tr h="566928">
                <a:tc>
                  <a:txBody>
                    <a:bodyPr/>
                    <a:lstStyle/>
                    <a:p>
                      <a:pPr algn="l" indent="0" marL="0">
                        <a:buNone/>
                      </a:pPr>
                      <a:r>
                        <a:rPr lang="en-US" sz="1600" b="1" dirty="0">
                          <a:solidFill>
                            <a:srgbClr val="1F2A37"/>
                          </a:solidFill>
                        </a:rPr>
                        <a:t>Sales</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44,583.76</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48,961.53</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15,117.84</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9,081.68</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F2A37"/>
                          </a:solidFill>
                        </a:rPr>
                        <a:t>Units Sold</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348.27</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351.78</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96.31</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76.29</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566928">
                <a:tc>
                  <a:txBody>
                    <a:bodyPr/>
                    <a:lstStyle/>
                    <a:p>
                      <a:pPr algn="l" indent="0" marL="0">
                        <a:buNone/>
                      </a:pPr>
                      <a:r>
                        <a:rPr lang="en-US" sz="1600" b="1" dirty="0">
                          <a:solidFill>
                            <a:srgbClr val="1F2A37"/>
                          </a:solidFill>
                        </a:rPr>
                        <a:t>Discount (%)</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15.62</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15.32</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8.03</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5.42</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1F2A37"/>
                          </a:solidFill>
                        </a:rPr>
                        <a:t>Customer Rating</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4.09</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4.15</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0.78</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0.44</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566928">
                <a:tc>
                  <a:txBody>
                    <a:bodyPr/>
                    <a:lstStyle/>
                    <a:p>
                      <a:pPr algn="l" indent="0" marL="0">
                        <a:buNone/>
                      </a:pPr>
                      <a:r>
                        <a:rPr lang="en-US" sz="1600" b="1" dirty="0">
                          <a:solidFill>
                            <a:srgbClr val="1F2A37"/>
                          </a:solidFill>
                        </a:rPr>
                        <a:t>Profit</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13,375.51</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14,632.46</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4,670.11</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2,786.59</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bl>
          </a:graphicData>
        </a:graphic>
      </p:graphicFrame>
      <p:sp>
        <p:nvSpPr>
          <p:cNvPr id="4" name="card"/>
          <p:cNvSpPr/>
          <p:nvPr/>
        </p:nvSpPr>
        <p:spPr>
          <a:xfrm>
            <a:off x="548640" y="4937760"/>
            <a:ext cx="11094415" cy="1188720"/>
          </a:xfrm>
          <a:prstGeom prst="roundRect">
            <a:avLst>
              <a:gd name="adj" fmla="val 6154"/>
            </a:avLst>
          </a:prstGeom>
          <a:solidFill>
            <a:schemeClr val="bg2"/>
          </a:solidFill>
          <a:ln w="12700">
            <a:solidFill>
              <a:schemeClr val="bg2"/>
            </a:solidFill>
            <a:prstDash val="solid"/>
          </a:ln>
        </p:spPr>
      </p:sp>
      <p:sp>
        <p:nvSpPr>
          <p:cNvPr id="5" name="Text 2"/>
          <p:cNvSpPr txBox="1"/>
          <p:nvPr/>
        </p:nvSpPr>
        <p:spPr>
          <a:xfrm>
            <a:off x="685800" y="5029200"/>
            <a:ext cx="10820095" cy="1005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means are fairly close, but the teacher's data has a smaller spread (e.g. Sales std 9,081.68 vs 15,117.84).</a:t>
            </a:r>
            <a:endParaRPr lang="en-US" sz="1500" dirty="0"/>
          </a:p>
          <a:p>
            <a:pPr marL="342900" indent="-342900">
              <a:spcAft>
                <a:spcPts val="600"/>
              </a:spcAft>
              <a:buSzPct val="100000"/>
              <a:buChar char="•"/>
            </a:pPr>
            <a:r>
              <a:rPr lang="en-US" sz="1500" dirty="0">
                <a:solidFill>
                  <a:schemeClr val="tx1"/>
                </a:solidFill>
              </a:rPr>
              <a:t>R² is lower (0.851 vs 0.950) only because Profit varies less here, so the same error is a bigger part of the variation.</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Future 20 days – predictions cannot be checked</a:t>
            </a:r>
            <a:endParaRPr lang="en-US" sz="3000" dirty="0"/>
          </a:p>
        </p:txBody>
      </p:sp>
      <p:pic>
        <p:nvPicPr>
          <p:cNvPr id="3" name="reg_c24_0.png" descr="charts/reg_c24_0.png">    </p:cNvPr>
          <p:cNvPicPr>
            <a:picLocks noChangeAspect="1"/>
          </p:cNvPicPr>
          <p:nvPr/>
        </p:nvPicPr>
        <p:blipFill>
          <a:blip r:embed="rId1"/>
          <a:stretch>
            <a:fillRect/>
          </a:stretch>
        </p:blipFill>
        <p:spPr>
          <a:xfrm>
            <a:off x="548640" y="2084852"/>
            <a:ext cx="5410048" cy="2505416"/>
          </a:xfrm>
          <a:prstGeom prst="rect">
            <a:avLst/>
          </a:prstGeom>
        </p:spPr>
      </p:pic>
      <p:pic>
        <p:nvPicPr>
          <p:cNvPr id="4" name="reg_c26_1.png" descr="charts/reg_c26_1.png">    </p:cNvPr>
          <p:cNvPicPr>
            <a:picLocks noChangeAspect="1"/>
          </p:cNvPicPr>
          <p:nvPr/>
        </p:nvPicPr>
        <p:blipFill>
          <a:blip r:embed="rId2"/>
          <a:stretch>
            <a:fillRect/>
          </a:stretch>
        </p:blipFill>
        <p:spPr>
          <a:xfrm>
            <a:off x="6233008" y="2084852"/>
            <a:ext cx="5410048" cy="2505416"/>
          </a:xfrm>
          <a:prstGeom prst="rect">
            <a:avLst/>
          </a:prstGeom>
        </p:spPr>
      </p:pic>
      <p:sp>
        <p:nvSpPr>
          <p:cNvPr id="5" name="Text 1"/>
          <p:cNvSpPr txBox="1"/>
          <p:nvPr/>
        </p:nvSpPr>
        <p:spPr>
          <a:xfrm>
            <a:off x="548640" y="5669280"/>
            <a:ext cx="11094415" cy="914400"/>
          </a:xfrm>
          <a:prstGeom prst="rect">
            <a:avLst/>
          </a:prstGeom>
          <a:noFill/>
          <a:ln/>
        </p:spPr>
        <p:txBody>
          <a:bodyPr wrap="square" lIns="0" tIns="0" rIns="0" bIns="0" rtlCol="0" anchor="ctr"/>
          <a:lstStyle/>
          <a:p>
            <a:pPr indent="0" marL="0">
              <a:buNone/>
            </a:pPr>
            <a:r>
              <a:rPr lang="en-US" sz="1400" dirty="0">
                <a:solidFill>
                  <a:schemeClr val="tx1"/>
                </a:solidFill>
              </a:rPr>
              <a:t>Both charts predict the next 20 days from simulated features (random changes from the last day), not real data. Left: there is no real profit for these days, so they cannot be checked. Right: the dates are the same as the test set, but the features are simulated, so the predictions cannot be compared fairly. They start from the last training day (a low day, about 9,000) and go down, while the real test profits stay between about 11,000 and 19,000.</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My experimental data</a:t>
            </a:r>
            <a:endParaRPr lang="en-US" sz="3000" dirty="0"/>
          </a:p>
        </p:txBody>
      </p:sp>
      <p:sp>
        <p:nvSpPr>
          <p:cNvPr id="3" name="card"/>
          <p:cNvSpPr/>
          <p:nvPr/>
        </p:nvSpPr>
        <p:spPr>
          <a:xfrm>
            <a:off x="548640" y="1280160"/>
            <a:ext cx="4023360" cy="2633472"/>
          </a:xfrm>
          <a:prstGeom prst="roundRect">
            <a:avLst>
              <a:gd name="adj" fmla="val 2778"/>
            </a:avLst>
          </a:prstGeom>
          <a:solidFill>
            <a:schemeClr val="bg2"/>
          </a:solidFill>
          <a:ln w="12700">
            <a:solidFill>
              <a:schemeClr val="bg2"/>
            </a:solidFill>
            <a:prstDash val="solid"/>
          </a:ln>
        </p:spPr>
      </p:sp>
      <p:sp>
        <p:nvSpPr>
          <p:cNvPr id="4" name="Text 2"/>
          <p:cNvSpPr txBox="1"/>
          <p:nvPr/>
        </p:nvSpPr>
        <p:spPr>
          <a:xfrm>
            <a:off x="685800" y="1371600"/>
            <a:ext cx="3749040" cy="2450592"/>
          </a:xfrm>
          <a:prstGeom prst="rect">
            <a:avLst/>
          </a:prstGeom>
          <a:noFill/>
          <a:ln/>
        </p:spPr>
        <p:txBody>
          <a:bodyPr wrap="square" lIns="0" tIns="0" rIns="0" bIns="0" rtlCol="0" anchor="t"/>
          <a:lstStyle/>
          <a:p>
            <a:pPr indent="0" marL="0">
              <a:spcAft>
                <a:spcPts val="600"/>
              </a:spcAft>
              <a:buNone/>
            </a:pPr>
            <a:r>
              <a:rPr lang="en-US" sz="1700" b="1" dirty="0">
                <a:solidFill>
                  <a:schemeClr val="accent1"/>
                </a:solidFill>
              </a:rPr>
              <a:t>How it was created</a:t>
            </a:r>
            <a:endParaRPr lang="en-US" sz="1500" dirty="0"/>
          </a:p>
          <a:p>
            <a:pPr marL="342900" indent="-342900">
              <a:spcAft>
                <a:spcPts val="600"/>
              </a:spcAft>
              <a:buSzPct val="100000"/>
              <a:buChar char="•"/>
            </a:pPr>
            <a:r>
              <a:rPr lang="en-US" sz="1500" dirty="0">
                <a:solidFill>
                  <a:schemeClr val="tx1"/>
                </a:solidFill>
              </a:rPr>
              <a:t>200 rows, random seed 2024</a:t>
            </a:r>
            <a:endParaRPr lang="en-US" sz="1500" dirty="0"/>
          </a:p>
          <a:p>
            <a:pPr marL="342900" indent="-342900">
              <a:spcAft>
                <a:spcPts val="600"/>
              </a:spcAft>
              <a:buSzPct val="100000"/>
              <a:buChar char="•"/>
            </a:pPr>
            <a:r>
              <a:rPr lang="en-US" sz="1500" dirty="0">
                <a:solidFill>
                  <a:schemeClr val="tx1"/>
                </a:solidFill>
              </a:rPr>
              <a:t>Each feature: normal distribution with the same mean and std as the model data</a:t>
            </a:r>
            <a:endParaRPr lang="en-US" sz="1500" dirty="0"/>
          </a:p>
          <a:p>
            <a:pPr marL="342900" indent="-342900">
              <a:spcAft>
                <a:spcPts val="600"/>
              </a:spcAft>
              <a:buSzPct val="100000"/>
              <a:buChar char="•"/>
            </a:pPr>
            <a:r>
              <a:rPr lang="en-US" sz="1500" dirty="0">
                <a:solidFill>
                  <a:schemeClr val="tx1"/>
                </a:solidFill>
              </a:rPr>
              <a:t>Profit = 0.3 × Sales + noise (same rule as the model data)</a:t>
            </a:r>
            <a:endParaRPr lang="en-US" sz="15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846320" y="1280160"/>
          <a:ext cx="6793992" cy="914400"/>
        </p:xfrm>
        <a:graphic>
          <a:graphicData uri="http://schemas.openxmlformats.org/drawingml/2006/table">
            <a:tbl>
              <a:tblPr/>
              <a:tblGrid>
                <a:gridCol w="1783080"/>
                <a:gridCol w="1252728"/>
                <a:gridCol w="1252728"/>
                <a:gridCol w="1252728"/>
                <a:gridCol w="1252728"/>
              </a:tblGrid>
              <a:tr h="566928">
                <a:tc>
                  <a:txBody>
                    <a:bodyPr/>
                    <a:lstStyle/>
                    <a:p>
                      <a:pPr algn="l" indent="0" marL="0">
                        <a:buNone/>
                      </a:pPr>
                      <a:r>
                        <a:rPr lang="en-US" sz="1500" b="1" dirty="0">
                          <a:solidFill>
                            <a:srgbClr val="FFFFFF"/>
                          </a:solidFill>
                        </a:rPr>
                        <a:t>Variable</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Model mean</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My mean</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Model std</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500" b="1" dirty="0">
                          <a:solidFill>
                            <a:srgbClr val="FFFFFF"/>
                          </a:solidFill>
                        </a:rPr>
                        <a:t>My std</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r>
              <a:tr h="566928">
                <a:tc>
                  <a:txBody>
                    <a:bodyPr/>
                    <a:lstStyle/>
                    <a:p>
                      <a:pPr algn="l" indent="0" marL="0">
                        <a:buNone/>
                      </a:pPr>
                      <a:r>
                        <a:rPr lang="en-US" sz="1500" b="1" dirty="0">
                          <a:solidFill>
                            <a:srgbClr val="1F2A37"/>
                          </a:solidFill>
                        </a:rPr>
                        <a:t>Sales</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44,583.76</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45,448.60</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15,117.84</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15,344.73</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566928">
                <a:tc>
                  <a:txBody>
                    <a:bodyPr/>
                    <a:lstStyle/>
                    <a:p>
                      <a:pPr algn="l" indent="0" marL="0">
                        <a:buNone/>
                      </a:pPr>
                      <a:r>
                        <a:rPr lang="en-US" sz="1500" b="1" dirty="0">
                          <a:solidFill>
                            <a:srgbClr val="1F2A37"/>
                          </a:solidFill>
                        </a:rPr>
                        <a:t>Units Sold</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348.27</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335.44</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96.31</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101.85</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566928">
                <a:tc>
                  <a:txBody>
                    <a:bodyPr/>
                    <a:lstStyle/>
                    <a:p>
                      <a:pPr algn="l" indent="0" marL="0">
                        <a:buNone/>
                      </a:pPr>
                      <a:r>
                        <a:rPr lang="en-US" sz="1500" b="1" dirty="0">
                          <a:solidFill>
                            <a:srgbClr val="1F2A37"/>
                          </a:solidFill>
                        </a:rPr>
                        <a:t>Discount (%)</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15.62</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16.18</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8.03</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8.51</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566928">
                <a:tc>
                  <a:txBody>
                    <a:bodyPr/>
                    <a:lstStyle/>
                    <a:p>
                      <a:pPr algn="l" indent="0" marL="0">
                        <a:buNone/>
                      </a:pPr>
                      <a:r>
                        <a:rPr lang="en-US" sz="1500" b="1" dirty="0">
                          <a:solidFill>
                            <a:srgbClr val="1F2A37"/>
                          </a:solidFill>
                        </a:rPr>
                        <a:t>Customer Rating</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4.09</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4.10</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0.78</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500" dirty="0">
                          <a:solidFill>
                            <a:srgbClr val="1F2A37"/>
                          </a:solidFill>
                        </a:rPr>
                        <a:t>0.79</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566928">
                <a:tc>
                  <a:txBody>
                    <a:bodyPr/>
                    <a:lstStyle/>
                    <a:p>
                      <a:pPr algn="l" indent="0" marL="0">
                        <a:buNone/>
                      </a:pPr>
                      <a:r>
                        <a:rPr lang="en-US" sz="1500" b="1" dirty="0">
                          <a:solidFill>
                            <a:srgbClr val="1F2A37"/>
                          </a:solidFill>
                        </a:rPr>
                        <a:t>Profit</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13,375.51</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13,755.56</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4,670.11</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A37"/>
                          </a:solidFill>
                        </a:rPr>
                        <a:t>4,578.46</a:t>
                      </a:r>
                      <a:endParaRPr lang="en-US" sz="15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846320" y="5120640"/>
            <a:ext cx="6793992" cy="548640"/>
          </a:xfrm>
          <a:prstGeom prst="rect">
            <a:avLst/>
          </a:prstGeom>
          <a:noFill/>
          <a:ln/>
        </p:spPr>
        <p:txBody>
          <a:bodyPr wrap="square" lIns="0" tIns="0" rIns="0" bIns="0" rtlCol="0" anchor="ctr"/>
          <a:lstStyle/>
          <a:p>
            <a:pPr indent="0" marL="0">
              <a:buNone/>
            </a:pPr>
            <a:r>
              <a:rPr lang="en-US" sz="1500" dirty="0">
                <a:solidFill>
                  <a:schemeClr val="tx1"/>
                </a:solidFill>
              </a:rPr>
              <a:t>The means and spreads of my data are very close to the model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Is my data similar to the model data?</a:t>
            </a:r>
            <a:endParaRPr lang="en-US" sz="3000" dirty="0"/>
          </a:p>
        </p:txBody>
      </p:sp>
      <p:pic>
        <p:nvPicPr>
          <p:cNvPr id="3" name="reg_c30_0.png" descr="charts/reg_c30_0.png">    </p:cNvPr>
          <p:cNvPicPr>
            <a:picLocks noChangeAspect="1"/>
          </p:cNvPicPr>
          <p:nvPr/>
        </p:nvPicPr>
        <p:blipFill>
          <a:blip r:embed="rId1"/>
          <a:stretch>
            <a:fillRect/>
          </a:stretch>
        </p:blipFill>
        <p:spPr>
          <a:xfrm>
            <a:off x="548640" y="1391364"/>
            <a:ext cx="6675120" cy="4761073"/>
          </a:xfrm>
          <a:prstGeom prst="rect">
            <a:avLst/>
          </a:prstGeom>
        </p:spPr>
      </p:pic>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7498080" y="1280160"/>
          <a:ext cx="4142232" cy="914400"/>
        </p:xfrm>
        <a:graphic>
          <a:graphicData uri="http://schemas.openxmlformats.org/drawingml/2006/table">
            <a:tbl>
              <a:tblPr/>
              <a:tblGrid>
                <a:gridCol w="2313432"/>
                <a:gridCol w="1828800"/>
              </a:tblGrid>
              <a:tr h="384048">
                <a:tc>
                  <a:txBody>
                    <a:bodyPr/>
                    <a:lstStyle/>
                    <a:p>
                      <a:pPr algn="l" indent="0" marL="0">
                        <a:buNone/>
                      </a:pPr>
                      <a:r>
                        <a:rPr lang="en-US" sz="1400" b="1" dirty="0">
                          <a:solidFill>
                            <a:srgbClr val="FFFFFF"/>
                          </a:solidFill>
                        </a:rPr>
                        <a:t>Feature</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400" b="1" dirty="0">
                          <a:solidFill>
                            <a:srgbClr val="FFFFFF"/>
                          </a:solidFill>
                        </a:rPr>
                        <a:t>KS p-value</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r>
              <a:tr h="384048">
                <a:tc>
                  <a:txBody>
                    <a:bodyPr/>
                    <a:lstStyle/>
                    <a:p>
                      <a:pPr algn="l" indent="0" marL="0">
                        <a:buNone/>
                      </a:pPr>
                      <a:r>
                        <a:rPr lang="en-US" sz="1400" b="1" dirty="0">
                          <a:solidFill>
                            <a:srgbClr val="1F2A37"/>
                          </a:solidFill>
                        </a:rPr>
                        <a:t>Sales</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7"/>
                          </a:solidFill>
                        </a:rPr>
                        <a:t>0.668</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F2A37"/>
                          </a:solidFill>
                        </a:rPr>
                        <a:t>Units Sold</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400" dirty="0">
                          <a:solidFill>
                            <a:srgbClr val="1F2A37"/>
                          </a:solidFill>
                        </a:rPr>
                        <a:t>0.032</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384048">
                <a:tc>
                  <a:txBody>
                    <a:bodyPr/>
                    <a:lstStyle/>
                    <a:p>
                      <a:pPr algn="l" indent="0" marL="0">
                        <a:buNone/>
                      </a:pPr>
                      <a:r>
                        <a:rPr lang="en-US" sz="1400" b="1" dirty="0">
                          <a:solidFill>
                            <a:srgbClr val="1F2A37"/>
                          </a:solidFill>
                        </a:rPr>
                        <a:t>Discount (%)</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7"/>
                          </a:solidFill>
                        </a:rPr>
                        <a:t>0.365</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1F2A37"/>
                          </a:solidFill>
                        </a:rPr>
                        <a:t>Customer Rating</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400" dirty="0">
                          <a:solidFill>
                            <a:srgbClr val="1F2A37"/>
                          </a:solidFill>
                        </a:rPr>
                        <a:t>0.858</a:t>
                      </a:r>
                      <a:endParaRPr lang="en-US" sz="14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bl>
          </a:graphicData>
        </a:graphic>
      </p:graphicFrame>
      <p:sp>
        <p:nvSpPr>
          <p:cNvPr id="5" name="card"/>
          <p:cNvSpPr/>
          <p:nvPr/>
        </p:nvSpPr>
        <p:spPr>
          <a:xfrm>
            <a:off x="7498080" y="3429000"/>
            <a:ext cx="4142232" cy="2788920"/>
          </a:xfrm>
          <a:prstGeom prst="roundRect">
            <a:avLst>
              <a:gd name="adj" fmla="val 2623"/>
            </a:avLst>
          </a:prstGeom>
          <a:solidFill>
            <a:schemeClr val="bg2"/>
          </a:solidFill>
          <a:ln w="12700">
            <a:solidFill>
              <a:schemeClr val="bg2"/>
            </a:solidFill>
            <a:prstDash val="solid"/>
          </a:ln>
        </p:spPr>
      </p:sp>
      <p:sp>
        <p:nvSpPr>
          <p:cNvPr id="6" name="Text 2"/>
          <p:cNvSpPr txBox="1"/>
          <p:nvPr/>
        </p:nvSpPr>
        <p:spPr>
          <a:xfrm>
            <a:off x="7635240" y="3520440"/>
            <a:ext cx="3867912" cy="260604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chemeClr val="tx1"/>
                </a:solidFill>
              </a:rPr>
              <a:t>The histograms overlap well.</a:t>
            </a:r>
            <a:endParaRPr lang="en-US" sz="1500" dirty="0"/>
          </a:p>
          <a:p>
            <a:pPr marL="342900" indent="-342900">
              <a:spcAft>
                <a:spcPts val="600"/>
              </a:spcAft>
              <a:buSzPct val="100000"/>
              <a:buChar char="•"/>
            </a:pPr>
            <a:r>
              <a:rPr lang="en-US" sz="1400" dirty="0">
                <a:solidFill>
                  <a:schemeClr val="tx1"/>
                </a:solidFill>
              </a:rPr>
              <a:t>Kolmogorov-Smirnov test: p &gt; 0.05 for Sales, Discount and Rating – no difference.</a:t>
            </a:r>
            <a:endParaRPr lang="en-US" sz="1500" dirty="0"/>
          </a:p>
          <a:p>
            <a:pPr marL="342900" indent="-342900">
              <a:spcAft>
                <a:spcPts val="600"/>
              </a:spcAft>
              <a:buSzPct val="100000"/>
              <a:buChar char="•"/>
            </a:pPr>
            <a:r>
              <a:rPr lang="en-US" sz="1400" dirty="0">
                <a:solidFill>
                  <a:schemeClr val="tx1"/>
                </a:solidFill>
              </a:rPr>
              <a:t>Units Sold p = 0.032 is a random result: the data comes from the same distribution, and with 4 tests one value below 0.05 can happen by chance.</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Model performance on my data</a:t>
            </a:r>
            <a:endParaRPr lang="en-US" sz="3000" dirty="0"/>
          </a:p>
        </p:txBody>
      </p:sp>
      <p:sp>
        <p:nvSpPr>
          <p:cNvPr id="3" name="stat RMSE"/>
          <p:cNvSpPr/>
          <p:nvPr/>
        </p:nvSpPr>
        <p:spPr>
          <a:xfrm>
            <a:off x="548640" y="1143000"/>
            <a:ext cx="384048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548640" y="1252728"/>
            <a:ext cx="3840480"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929.95</a:t>
            </a:r>
            <a:endParaRPr lang="en-US" sz="3600" dirty="0"/>
          </a:p>
        </p:txBody>
      </p:sp>
      <p:sp>
        <p:nvSpPr>
          <p:cNvPr id="5" name="Text 3"/>
          <p:cNvSpPr txBox="1"/>
          <p:nvPr/>
        </p:nvSpPr>
        <p:spPr>
          <a:xfrm>
            <a:off x="548640" y="1984248"/>
            <a:ext cx="3840480" cy="411480"/>
          </a:xfrm>
          <a:prstGeom prst="rect">
            <a:avLst/>
          </a:prstGeom>
          <a:noFill/>
          <a:ln/>
        </p:spPr>
        <p:txBody>
          <a:bodyPr wrap="square" rtlCol="0" anchor="t"/>
          <a:lstStyle/>
          <a:p>
            <a:pPr algn="ctr" indent="0" marL="0">
              <a:buNone/>
            </a:pPr>
            <a:r>
              <a:rPr lang="en-US" sz="1300" dirty="0">
                <a:solidFill>
                  <a:schemeClr val="tx1"/>
                </a:solidFill>
              </a:rPr>
              <a:t>RMSE</a:t>
            </a:r>
            <a:endParaRPr lang="en-US" sz="1300" dirty="0"/>
          </a:p>
        </p:txBody>
      </p:sp>
      <p:sp>
        <p:nvSpPr>
          <p:cNvPr id="6" name="stat MAE"/>
          <p:cNvSpPr/>
          <p:nvPr/>
        </p:nvSpPr>
        <p:spPr>
          <a:xfrm>
            <a:off x="548640" y="2651760"/>
            <a:ext cx="384048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548640" y="2761488"/>
            <a:ext cx="3840480"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756.75</a:t>
            </a:r>
            <a:endParaRPr lang="en-US" sz="3600" dirty="0"/>
          </a:p>
        </p:txBody>
      </p:sp>
      <p:sp>
        <p:nvSpPr>
          <p:cNvPr id="8" name="Text 6"/>
          <p:cNvSpPr txBox="1"/>
          <p:nvPr/>
        </p:nvSpPr>
        <p:spPr>
          <a:xfrm>
            <a:off x="548640" y="3493008"/>
            <a:ext cx="3840480" cy="411480"/>
          </a:xfrm>
          <a:prstGeom prst="rect">
            <a:avLst/>
          </a:prstGeom>
          <a:noFill/>
          <a:ln/>
        </p:spPr>
        <p:txBody>
          <a:bodyPr wrap="square" rtlCol="0" anchor="t"/>
          <a:lstStyle/>
          <a:p>
            <a:pPr algn="ctr" indent="0" marL="0">
              <a:buNone/>
            </a:pPr>
            <a:r>
              <a:rPr lang="en-US" sz="1300" dirty="0">
                <a:solidFill>
                  <a:schemeClr val="tx1"/>
                </a:solidFill>
              </a:rPr>
              <a:t>MAE</a:t>
            </a:r>
            <a:endParaRPr lang="en-US" sz="1300" dirty="0"/>
          </a:p>
        </p:txBody>
      </p:sp>
      <p:sp>
        <p:nvSpPr>
          <p:cNvPr id="9" name="stat R²"/>
          <p:cNvSpPr/>
          <p:nvPr/>
        </p:nvSpPr>
        <p:spPr>
          <a:xfrm>
            <a:off x="548640" y="4160520"/>
            <a:ext cx="384048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548640" y="4270248"/>
            <a:ext cx="3840480" cy="731520"/>
          </a:xfrm>
          <a:prstGeom prst="rect">
            <a:avLst/>
          </a:prstGeom>
          <a:noFill/>
          <a:ln/>
        </p:spPr>
        <p:txBody>
          <a:bodyPr wrap="square"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0.959</a:t>
            </a:r>
            <a:endParaRPr lang="en-US" sz="3600" dirty="0"/>
          </a:p>
        </p:txBody>
      </p:sp>
      <p:sp>
        <p:nvSpPr>
          <p:cNvPr id="11" name="Text 9"/>
          <p:cNvSpPr txBox="1"/>
          <p:nvPr/>
        </p:nvSpPr>
        <p:spPr>
          <a:xfrm>
            <a:off x="548640" y="5001768"/>
            <a:ext cx="3840480" cy="411480"/>
          </a:xfrm>
          <a:prstGeom prst="rect">
            <a:avLst/>
          </a:prstGeom>
          <a:noFill/>
          <a:ln/>
        </p:spPr>
        <p:txBody>
          <a:bodyPr wrap="square" rtlCol="0" anchor="t"/>
          <a:lstStyle/>
          <a:p>
            <a:pPr algn="ctr" indent="0" marL="0">
              <a:buNone/>
            </a:pPr>
            <a:r>
              <a:rPr lang="en-US" sz="1300" dirty="0">
                <a:solidFill>
                  <a:schemeClr val="tx1"/>
                </a:solidFill>
              </a:rPr>
              <a:t>R²</a:t>
            </a:r>
            <a:endParaRPr lang="en-US" sz="1300" dirty="0"/>
          </a:p>
        </p:txBody>
      </p:sp>
      <p:sp>
        <p:nvSpPr>
          <p:cNvPr id="12" name="card"/>
          <p:cNvSpPr/>
          <p:nvPr/>
        </p:nvSpPr>
        <p:spPr>
          <a:xfrm>
            <a:off x="548640" y="5669280"/>
            <a:ext cx="3840480" cy="685800"/>
          </a:xfrm>
          <a:prstGeom prst="roundRect">
            <a:avLst>
              <a:gd name="adj" fmla="val 10667"/>
            </a:avLst>
          </a:prstGeom>
          <a:solidFill>
            <a:schemeClr val="bg2"/>
          </a:solidFill>
          <a:ln w="12700">
            <a:solidFill>
              <a:schemeClr val="bg2"/>
            </a:solidFill>
            <a:prstDash val="solid"/>
          </a:ln>
        </p:spPr>
      </p:sp>
      <p:sp>
        <p:nvSpPr>
          <p:cNvPr id="13" name="Text 11"/>
          <p:cNvSpPr txBox="1"/>
          <p:nvPr/>
        </p:nvSpPr>
        <p:spPr>
          <a:xfrm>
            <a:off x="685800" y="5760720"/>
            <a:ext cx="3566160" cy="502920"/>
          </a:xfrm>
          <a:prstGeom prst="rect">
            <a:avLst/>
          </a:prstGeom>
          <a:noFill/>
          <a:ln/>
        </p:spPr>
        <p:txBody>
          <a:bodyPr wrap="square" lIns="0" tIns="0" rIns="0" bIns="0" rtlCol="0" anchor="ctr"/>
          <a:lstStyle/>
          <a:p>
            <a:pPr indent="0" marL="0">
              <a:spcAft>
                <a:spcPts val="600"/>
              </a:spcAft>
              <a:buNone/>
            </a:pPr>
            <a:r>
              <a:rPr lang="en-US" sz="1500" dirty="0">
                <a:solidFill>
                  <a:schemeClr val="tx1"/>
                </a:solidFill>
              </a:rPr>
              <a:t>As good as on the test set.</a:t>
            </a:r>
            <a:endParaRPr lang="en-US" sz="1500" dirty="0"/>
          </a:p>
        </p:txBody>
      </p:sp>
      <p:pic>
        <p:nvPicPr>
          <p:cNvPr id="14" name="reg_c32_0.png" descr="charts/reg_c32_0.png">    </p:cNvPr>
          <p:cNvPicPr>
            <a:picLocks noChangeAspect="1"/>
          </p:cNvPicPr>
          <p:nvPr/>
        </p:nvPicPr>
        <p:blipFill>
          <a:blip r:embed="rId1"/>
          <a:stretch>
            <a:fillRect/>
          </a:stretch>
        </p:blipFill>
        <p:spPr>
          <a:xfrm>
            <a:off x="5423764" y="1097280"/>
            <a:ext cx="5456225" cy="534924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Errors on my data</a:t>
            </a:r>
            <a:endParaRPr lang="en-US" sz="3000" dirty="0"/>
          </a:p>
        </p:txBody>
      </p:sp>
      <p:pic>
        <p:nvPicPr>
          <p:cNvPr id="3" name="reg_c33_0.png" descr="charts/reg_c33_0.png">    </p:cNvPr>
          <p:cNvPicPr>
            <a:picLocks noChangeAspect="1"/>
          </p:cNvPicPr>
          <p:nvPr/>
        </p:nvPicPr>
        <p:blipFill>
          <a:blip r:embed="rId1"/>
          <a:stretch>
            <a:fillRect/>
          </a:stretch>
        </p:blipFill>
        <p:spPr>
          <a:xfrm>
            <a:off x="548640" y="1727895"/>
            <a:ext cx="4754880" cy="3036450"/>
          </a:xfrm>
          <a:prstGeom prst="rect">
            <a:avLst/>
          </a:prstGeom>
        </p:spPr>
      </p:pic>
      <p:pic>
        <p:nvPicPr>
          <p:cNvPr id="4" name="reg_c34_0.png" descr="charts/reg_c34_0.png">    </p:cNvPr>
          <p:cNvPicPr>
            <a:picLocks noChangeAspect="1"/>
          </p:cNvPicPr>
          <p:nvPr/>
        </p:nvPicPr>
        <p:blipFill>
          <a:blip r:embed="rId2"/>
          <a:stretch>
            <a:fillRect/>
          </a:stretch>
        </p:blipFill>
        <p:spPr>
          <a:xfrm>
            <a:off x="5577840" y="1842341"/>
            <a:ext cx="6062472" cy="2807557"/>
          </a:xfrm>
          <a:prstGeom prst="rect">
            <a:avLst/>
          </a:prstGeom>
        </p:spPr>
      </p:pic>
      <p:sp>
        <p:nvSpPr>
          <p:cNvPr id="5" name="Text 1"/>
          <p:cNvSpPr txBox="1"/>
          <p:nvPr/>
        </p:nvSpPr>
        <p:spPr>
          <a:xfrm>
            <a:off x="548640" y="5577840"/>
            <a:ext cx="11094415" cy="548640"/>
          </a:xfrm>
          <a:prstGeom prst="rect">
            <a:avLst/>
          </a:prstGeom>
          <a:noFill/>
          <a:ln/>
        </p:spPr>
        <p:txBody>
          <a:bodyPr wrap="square" lIns="0" tIns="0" rIns="0" bIns="0" rtlCol="0" anchor="ctr"/>
          <a:lstStyle/>
          <a:p>
            <a:pPr indent="0" marL="0">
              <a:buNone/>
            </a:pPr>
            <a:r>
              <a:rPr lang="en-US" sz="1500" dirty="0">
                <a:solidFill>
                  <a:schemeClr val="tx1"/>
                </a:solidFill>
              </a:rPr>
              <a:t>The errors are centred around 0, and the first 50 predictions follow the real values closely.</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73152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Summary and conclusion</a:t>
            </a:r>
            <a:endParaRPr lang="en-US" sz="30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2743200"/>
                <a:gridCol w="1188720"/>
                <a:gridCol w="1188720"/>
                <a:gridCol w="914400"/>
              </a:tblGrid>
              <a:tr h="685800">
                <a:tc>
                  <a:txBody>
                    <a:bodyPr/>
                    <a:lstStyle/>
                    <a:p>
                      <a:pPr algn="l" indent="0" marL="0">
                        <a:buNone/>
                      </a:pPr>
                      <a:r>
                        <a:rPr lang="en-US" sz="1600" b="1" dirty="0">
                          <a:solidFill>
                            <a:srgbClr val="FFFFFF"/>
                          </a:solidFill>
                        </a:rPr>
                        <a:t>Data</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RMSE</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MAE</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c>
                  <a:txBody>
                    <a:bodyPr/>
                    <a:lstStyle/>
                    <a:p>
                      <a:pPr algn="ctr" indent="0" marL="0">
                        <a:buNone/>
                      </a:pPr>
                      <a:r>
                        <a:rPr lang="en-US" sz="1600" b="1" dirty="0">
                          <a:solidFill>
                            <a:srgbClr val="FFFFFF"/>
                          </a:solidFill>
                        </a:rPr>
                        <a:t>R²</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0B4F6C"/>
                    </a:solidFill>
                  </a:tcPr>
                </a:tc>
              </a:tr>
              <a:tr h="685800">
                <a:tc>
                  <a:txBody>
                    <a:bodyPr/>
                    <a:lstStyle/>
                    <a:p>
                      <a:pPr algn="l" indent="0" marL="0">
                        <a:buNone/>
                      </a:pPr>
                      <a:r>
                        <a:rPr lang="en-US" sz="1600" b="1" dirty="0">
                          <a:solidFill>
                            <a:srgbClr val="1F2A37"/>
                          </a:solidFill>
                        </a:rPr>
                        <a:t>Validation set</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993.22</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796.92</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0.958</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1F2A37"/>
                          </a:solidFill>
                        </a:rPr>
                        <a:t>Test set</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1,024.87</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823.45</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0.950</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r h="685800">
                <a:tc>
                  <a:txBody>
                    <a:bodyPr/>
                    <a:lstStyle/>
                    <a:p>
                      <a:pPr algn="l" indent="0" marL="0">
                        <a:buNone/>
                      </a:pPr>
                      <a:r>
                        <a:rPr lang="en-US" sz="1600" b="1" dirty="0">
                          <a:solidFill>
                            <a:srgbClr val="1F2A37"/>
                          </a:solidFill>
                        </a:rPr>
                        <a:t>Teacher's experimental data</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1,069.50</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864.85</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A37"/>
                          </a:solidFill>
                        </a:rPr>
                        <a:t>0.851</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FFFFFF"/>
                    </a:solidFill>
                  </a:tcPr>
                </a:tc>
              </a:tr>
              <a:tr h="685800">
                <a:tc>
                  <a:txBody>
                    <a:bodyPr/>
                    <a:lstStyle/>
                    <a:p>
                      <a:pPr algn="l" indent="0" marL="0">
                        <a:buNone/>
                      </a:pPr>
                      <a:r>
                        <a:rPr lang="en-US" sz="1600" b="1" dirty="0">
                          <a:solidFill>
                            <a:srgbClr val="1F2A37"/>
                          </a:solidFill>
                        </a:rPr>
                        <a:t>My experimental data</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929.95</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756.75</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c>
                  <a:txBody>
                    <a:bodyPr/>
                    <a:lstStyle/>
                    <a:p>
                      <a:pPr algn="ctr" indent="0" marL="0">
                        <a:buNone/>
                      </a:pPr>
                      <a:r>
                        <a:rPr lang="en-US" sz="1600" dirty="0">
                          <a:solidFill>
                            <a:srgbClr val="1F2A37"/>
                          </a:solidFill>
                        </a:rPr>
                        <a:t>0.959</a:t>
                      </a:r>
                      <a:endParaRPr lang="en-US" sz="1600" dirty="0"/>
                    </a:p>
                  </a:txBody>
                  <a:tcPr marL="45720" marR="45720" marT="45720" marB="45720" anchor="ctr">
                    <a:lnL w="6350" cap="flat" cmpd="sng" algn="ctr">
                      <a:solidFill>
                        <a:srgbClr val="C9D6DD"/>
                      </a:solidFill>
                      <a:prstDash val="solid"/>
                      <a:round/>
                      <a:headEnd type="none" w="med" len="med"/>
                      <a:tailEnd type="none" w="med" len="med"/>
                    </a:lnL>
                    <a:lnR w="6350" cap="flat" cmpd="sng" algn="ctr">
                      <a:solidFill>
                        <a:srgbClr val="C9D6DD"/>
                      </a:solidFill>
                      <a:prstDash val="solid"/>
                      <a:round/>
                      <a:headEnd type="none" w="med" len="med"/>
                      <a:tailEnd type="none" w="med" len="med"/>
                    </a:lnR>
                    <a:lnT w="6350" cap="flat" cmpd="sng" algn="ctr">
                      <a:solidFill>
                        <a:srgbClr val="C9D6DD"/>
                      </a:solidFill>
                      <a:prstDash val="solid"/>
                      <a:round/>
                      <a:headEnd type="none" w="med" len="med"/>
                      <a:tailEnd type="none" w="med" len="med"/>
                    </a:lnT>
                    <a:lnB w="6350" cap="flat" cmpd="sng" algn="ctr">
                      <a:solidFill>
                        <a:srgbClr val="C9D6DD"/>
                      </a:solidFill>
                      <a:prstDash val="solid"/>
                      <a:round/>
                      <a:headEnd type="none" w="med" len="med"/>
                      <a:tailEnd type="none" w="med" len="med"/>
                    </a:lnB>
                    <a:solidFill>
                      <a:srgbClr val="EAF2F5"/>
                    </a:solidFill>
                  </a:tcPr>
                </a:tc>
              </a:tr>
            </a:tbl>
          </a:graphicData>
        </a:graphic>
      </p:graphicFrame>
      <p:sp>
        <p:nvSpPr>
          <p:cNvPr id="4" name="card"/>
          <p:cNvSpPr/>
          <p:nvPr/>
        </p:nvSpPr>
        <p:spPr>
          <a:xfrm>
            <a:off x="6858000" y="1280160"/>
            <a:ext cx="4782312" cy="3429000"/>
          </a:xfrm>
          <a:prstGeom prst="roundRect">
            <a:avLst>
              <a:gd name="adj" fmla="val 2133"/>
            </a:avLst>
          </a:prstGeom>
          <a:solidFill>
            <a:schemeClr val="bg2"/>
          </a:solidFill>
          <a:ln w="12700">
            <a:solidFill>
              <a:schemeClr val="bg2"/>
            </a:solidFill>
            <a:prstDash val="solid"/>
          </a:ln>
        </p:spPr>
      </p:sp>
      <p:sp>
        <p:nvSpPr>
          <p:cNvPr id="5" name="Text 2"/>
          <p:cNvSpPr txBox="1"/>
          <p:nvPr/>
        </p:nvSpPr>
        <p:spPr>
          <a:xfrm>
            <a:off x="6995160" y="1371600"/>
            <a:ext cx="4507992" cy="32461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The model works well on new data when the data is similar to the training data.</a:t>
            </a:r>
            <a:endParaRPr lang="en-US" sz="1500" dirty="0"/>
          </a:p>
          <a:p>
            <a:pPr marL="342900" indent="-342900">
              <a:spcAft>
                <a:spcPts val="600"/>
              </a:spcAft>
              <a:buSzPct val="100000"/>
              <a:buChar char="•"/>
            </a:pPr>
            <a:r>
              <a:rPr lang="en-US" sz="1500" dirty="0">
                <a:solidFill>
                  <a:schemeClr val="tx1"/>
                </a:solidFill>
              </a:rPr>
              <a:t>On my data the error is as low as on the test set (R² 0.959).</a:t>
            </a:r>
            <a:endParaRPr lang="en-US" sz="1500" dirty="0"/>
          </a:p>
          <a:p>
            <a:pPr marL="342900" indent="-342900">
              <a:spcAft>
                <a:spcPts val="600"/>
              </a:spcAft>
              <a:buSzPct val="100000"/>
              <a:buChar char="•"/>
            </a:pPr>
            <a:r>
              <a:rPr lang="en-US" sz="1500" dirty="0">
                <a:solidFill>
                  <a:schemeClr val="tx1"/>
                </a:solidFill>
              </a:rPr>
              <a:t>On the teacher's data the error is similar; R² is lower only because the data has a smaller spread.</a:t>
            </a:r>
            <a:endParaRPr lang="en-US" sz="1500" dirty="0"/>
          </a:p>
          <a:p>
            <a:pPr marL="342900" indent="-342900">
              <a:spcAft>
                <a:spcPts val="600"/>
              </a:spcAft>
              <a:buSzPct val="100000"/>
              <a:buChar char="•"/>
            </a:pPr>
            <a:r>
              <a:rPr lang="en-US" sz="1500" dirty="0">
                <a:solidFill>
                  <a:schemeClr val="tx1"/>
                </a:solidFill>
              </a:rPr>
              <a:t>If new data were very different from the training data (like trucks instead of cars), we could not expect the same results.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7D"/>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Homework Teal">
  <a:themeElements>
    <a:clrScheme name="Homework Teal">
      <a:dk1>
        <a:srgbClr val="1F2A37"/>
      </a:dk1>
      <a:lt1>
        <a:srgbClr val="FFFFFF"/>
      </a:lt1>
      <a:dk2>
        <a:srgbClr val="0B4F6C"/>
      </a:dk2>
      <a:lt2>
        <a:srgbClr val="EAF2F5"/>
      </a:lt2>
      <a:accent1>
        <a:srgbClr val="0B4F6C"/>
      </a:accent1>
      <a:accent2>
        <a:srgbClr val="E07A1F"/>
      </a:accent2>
      <a:accent3>
        <a:srgbClr val="2E8B57"/>
      </a:accent3>
      <a:accent4>
        <a:srgbClr val="5B6C7D"/>
      </a:accent4>
      <a:accent5>
        <a:srgbClr val="8FB8CA"/>
      </a:accent5>
      <a:accent6>
        <a:srgbClr val="C94F4F"/>
      </a:accent6>
      <a:hlink>
        <a:srgbClr val="0B4F6C"/>
      </a:hlink>
      <a:folHlink>
        <a:srgbClr val="5B6C7D"/>
      </a:folHlink>
    </a:clrScheme>
    <a:fontScheme name="Homework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Profit Prediction Model – Testing on New Data</dc:title>
  <dc:subject>PptxGenJS Presentation</dc:subject>
  <dc:creator>Jakub Wojciechowski</dc:creator>
  <cp:lastModifiedBy>Jakub Wojciechowski</cp:lastModifiedBy>
  <cp:revision>1</cp:revision>
  <dcterms:created xsi:type="dcterms:W3CDTF">2026-10-04T20:49:16Z</dcterms:created>
  <dcterms:modified xsi:type="dcterms:W3CDTF">2026-10-04T20:49:16Z</dcterms:modified>
</cp:coreProperties>
</file>